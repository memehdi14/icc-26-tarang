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8.xml"/>
  <Override ContentType="application/vnd.openxmlformats-officedocument.presentationml.slideMaster+xml" PartName="/ppt/slideMasters/slideMaster26.xml"/>
  <Override ContentType="application/vnd.openxmlformats-officedocument.presentationml.slideMaster+xml" PartName="/ppt/slideMasters/slideMaster13.xml"/>
  <Override ContentType="application/vnd.openxmlformats-officedocument.presentationml.slideMaster+xml" PartName="/ppt/slideMasters/slideMaster30.xml"/>
  <Override ContentType="application/vnd.openxmlformats-officedocument.presentationml.slideMaster+xml" PartName="/ppt/slideMasters/slideMaster21.xml"/>
  <Override ContentType="application/vnd.openxmlformats-officedocument.presentationml.slideMaster+xml" PartName="/ppt/slideMasters/slideMaster5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5.xml"/>
  <Override ContentType="application/vnd.openxmlformats-officedocument.presentationml.slideMaster+xml" PartName="/ppt/slideMasters/slideMaster19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28.xml"/>
  <Override ContentType="application/vnd.openxmlformats-officedocument.presentationml.slideMaster+xml" PartName="/ppt/slideMasters/slideMaster16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20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24.xml"/>
  <Override ContentType="application/vnd.openxmlformats-officedocument.presentationml.slideMaster+xml" PartName="/ppt/slideMasters/slideMaster2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5.xml"/>
  <Override ContentType="application/vnd.openxmlformats-officedocument.presentationml.slideMaster+xml" PartName="/ppt/slideMasters/slideMaster23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14.xml"/>
  <Override ContentType="application/vnd.openxmlformats-officedocument.presentationml.slideMaster+xml" PartName="/ppt/slideMasters/slideMaster17.xml"/>
  <Override ContentType="application/vnd.openxmlformats-officedocument.presentationml.slideMaster+xml" PartName="/ppt/slideMasters/slideMaster27.xml"/>
  <Override ContentType="application/vnd.openxmlformats-officedocument.presentationml.slideMaster+xml" PartName="/ppt/slideMasters/slideMaster22.xml"/>
  <Override ContentType="application/vnd.openxmlformats-officedocument.presentationml.slideMaster+xml" PartName="/ppt/slideMasters/slideMaster6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0.xml"/>
  <Override ContentType="application/vnd.openxmlformats-officedocument.theme+xml" PartName="/ppt/theme/theme17.xml"/>
  <Override ContentType="application/vnd.openxmlformats-officedocument.theme+xml" PartName="/ppt/theme/theme11.xml"/>
  <Override ContentType="application/vnd.openxmlformats-officedocument.theme+xml" PartName="/ppt/theme/theme24.xml"/>
  <Override ContentType="application/vnd.openxmlformats-officedocument.theme+xml" PartName="/ppt/theme/theme5.xml"/>
  <Override ContentType="application/vnd.openxmlformats-officedocument.theme+xml" PartName="/ppt/theme/theme26.xml"/>
  <Override ContentType="application/vnd.openxmlformats-officedocument.theme+xml" PartName="/ppt/theme/theme7.xml"/>
  <Override ContentType="application/vnd.openxmlformats-officedocument.theme+xml" PartName="/ppt/theme/theme4.xml"/>
  <Override ContentType="application/vnd.openxmlformats-officedocument.theme+xml" PartName="/ppt/theme/theme18.xml"/>
  <Override ContentType="application/vnd.openxmlformats-officedocument.theme+xml" PartName="/ppt/theme/theme23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27.xml"/>
  <Override ContentType="application/vnd.openxmlformats-officedocument.theme+xml" PartName="/ppt/theme/theme14.xml"/>
  <Override ContentType="application/vnd.openxmlformats-officedocument.theme+xml" PartName="/ppt/theme/theme19.xml"/>
  <Override ContentType="application/vnd.openxmlformats-officedocument.theme+xml" PartName="/ppt/theme/theme22.xml"/>
  <Override ContentType="application/vnd.openxmlformats-officedocument.theme+xml" PartName="/ppt/theme/theme3.xml"/>
  <Override ContentType="application/vnd.openxmlformats-officedocument.theme+xml" PartName="/ppt/theme/theme31.xml"/>
  <Override ContentType="application/vnd.openxmlformats-officedocument.theme+xml" PartName="/ppt/theme/theme30.xml"/>
  <Override ContentType="application/vnd.openxmlformats-officedocument.theme+xml" PartName="/ppt/theme/theme1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28.xml"/>
  <Override ContentType="application/vnd.openxmlformats-officedocument.theme+xml" PartName="/ppt/theme/theme21.xml"/>
  <Override ContentType="application/vnd.openxmlformats-officedocument.theme+xml" PartName="/ppt/theme/theme2.xml"/>
  <Override ContentType="application/vnd.openxmlformats-officedocument.theme+xml" PartName="/ppt/theme/theme29.xml"/>
  <Override ContentType="application/vnd.openxmlformats-officedocument.theme+xml" PartName="/ppt/theme/theme16.xml"/>
  <Override ContentType="application/vnd.openxmlformats-officedocument.theme+xml" PartName="/ppt/theme/theme25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  <p:sldMasterId id="2147483677" r:id="rId6"/>
    <p:sldMasterId id="2147483678" r:id="rId7"/>
    <p:sldMasterId id="2147483679" r:id="rId8"/>
    <p:sldMasterId id="2147483680" r:id="rId9"/>
    <p:sldMasterId id="2147483681" r:id="rId10"/>
    <p:sldMasterId id="2147483682" r:id="rId11"/>
    <p:sldMasterId id="2147483683" r:id="rId12"/>
    <p:sldMasterId id="2147483684" r:id="rId13"/>
    <p:sldMasterId id="2147483685" r:id="rId14"/>
    <p:sldMasterId id="2147483686" r:id="rId15"/>
    <p:sldMasterId id="2147483687" r:id="rId16"/>
    <p:sldMasterId id="2147483688" r:id="rId17"/>
    <p:sldMasterId id="2147483689" r:id="rId18"/>
    <p:sldMasterId id="2147483690" r:id="rId19"/>
    <p:sldMasterId id="2147483691" r:id="rId20"/>
    <p:sldMasterId id="2147483692" r:id="rId21"/>
    <p:sldMasterId id="2147483693" r:id="rId22"/>
    <p:sldMasterId id="2147483694" r:id="rId23"/>
    <p:sldMasterId id="2147483695" r:id="rId24"/>
    <p:sldMasterId id="2147483696" r:id="rId25"/>
    <p:sldMasterId id="2147483697" r:id="rId26"/>
    <p:sldMasterId id="2147483698" r:id="rId27"/>
    <p:sldMasterId id="2147483699" r:id="rId28"/>
    <p:sldMasterId id="2147483700" r:id="rId29"/>
    <p:sldMasterId id="2147483701" r:id="rId30"/>
    <p:sldMasterId id="2147483702" r:id="rId31"/>
    <p:sldMasterId id="2147483703" r:id="rId32"/>
    <p:sldMasterId id="2147483704" r:id="rId33"/>
  </p:sldMasterIdLst>
  <p:notesMasterIdLst>
    <p:notesMasterId r:id="rId34"/>
  </p:notesMasterIdLst>
  <p:sldIdLst>
    <p:sldId id="256" r:id="rId35"/>
    <p:sldId id="257" r:id="rId36"/>
    <p:sldId id="258" r:id="rId37"/>
    <p:sldId id="259" r:id="rId38"/>
    <p:sldId id="260" r:id="rId39"/>
    <p:sldId id="261" r:id="rId40"/>
    <p:sldId id="262" r:id="rId41"/>
    <p:sldId id="263" r:id="rId42"/>
    <p:sldId id="264" r:id="rId43"/>
    <p:sldId id="265" r:id="rId44"/>
    <p:sldId id="266" r:id="rId45"/>
  </p:sldIdLst>
  <p:sldSz cy="6858000" cx="12192000"/>
  <p:notesSz cx="6858000" cy="9144000"/>
  <p:embeddedFontLst>
    <p:embeddedFont>
      <p:font typeface="Roboto Serif"/>
      <p:regular r:id="rId46"/>
      <p:bold r:id="rId47"/>
      <p:italic r:id="rId48"/>
      <p:boldItalic r:id="rId49"/>
    </p:embeddedFont>
    <p:embeddedFont>
      <p:font typeface="Lexend SemiBold"/>
      <p:regular r:id="rId50"/>
      <p:bold r:id="rId51"/>
    </p:embeddedFont>
    <p:embeddedFont>
      <p:font typeface="Quattrocento Sans"/>
      <p:regular r:id="rId52"/>
      <p:bold r:id="rId53"/>
      <p:italic r:id="rId54"/>
      <p:boldItalic r:id="rId55"/>
    </p:embeddedFont>
    <p:embeddedFont>
      <p:font typeface="Lexend"/>
      <p:regular r:id="rId56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6.xml"/><Relationship Id="rId42" Type="http://schemas.openxmlformats.org/officeDocument/2006/relationships/slide" Target="slides/slide8.xml"/><Relationship Id="rId41" Type="http://schemas.openxmlformats.org/officeDocument/2006/relationships/slide" Target="slides/slide7.xml"/><Relationship Id="rId44" Type="http://schemas.openxmlformats.org/officeDocument/2006/relationships/slide" Target="slides/slide10.xml"/><Relationship Id="rId43" Type="http://schemas.openxmlformats.org/officeDocument/2006/relationships/slide" Target="slides/slide9.xml"/><Relationship Id="rId46" Type="http://schemas.openxmlformats.org/officeDocument/2006/relationships/font" Target="fonts/RobotoSerif-regular.fntdata"/><Relationship Id="rId45" Type="http://schemas.openxmlformats.org/officeDocument/2006/relationships/slide" Target="slides/slide11.xml"/><Relationship Id="rId1" Type="http://schemas.openxmlformats.org/officeDocument/2006/relationships/theme" Target="theme/theme27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font" Target="fonts/RobotoSerif-italic.fntdata"/><Relationship Id="rId47" Type="http://schemas.openxmlformats.org/officeDocument/2006/relationships/font" Target="fonts/RobotoSerif-bold.fntdata"/><Relationship Id="rId49" Type="http://schemas.openxmlformats.org/officeDocument/2006/relationships/font" Target="fonts/RobotoSerif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Master" Target="slideMasters/slideMaster28.xml"/><Relationship Id="rId30" Type="http://schemas.openxmlformats.org/officeDocument/2006/relationships/slideMaster" Target="slideMasters/slideMaster27.xml"/><Relationship Id="rId33" Type="http://schemas.openxmlformats.org/officeDocument/2006/relationships/slideMaster" Target="slideMasters/slideMaster30.xml"/><Relationship Id="rId32" Type="http://schemas.openxmlformats.org/officeDocument/2006/relationships/slideMaster" Target="slideMasters/slideMaster29.xml"/><Relationship Id="rId35" Type="http://schemas.openxmlformats.org/officeDocument/2006/relationships/slide" Target="slides/slide1.xml"/><Relationship Id="rId34" Type="http://schemas.openxmlformats.org/officeDocument/2006/relationships/notesMaster" Target="notesMasters/notesMaster1.xml"/><Relationship Id="rId37" Type="http://schemas.openxmlformats.org/officeDocument/2006/relationships/slide" Target="slides/slide3.xml"/><Relationship Id="rId36" Type="http://schemas.openxmlformats.org/officeDocument/2006/relationships/slide" Target="slides/slide2.xml"/><Relationship Id="rId39" Type="http://schemas.openxmlformats.org/officeDocument/2006/relationships/slide" Target="slides/slide5.xml"/><Relationship Id="rId38" Type="http://schemas.openxmlformats.org/officeDocument/2006/relationships/slide" Target="slides/slide4.xml"/><Relationship Id="rId20" Type="http://schemas.openxmlformats.org/officeDocument/2006/relationships/slideMaster" Target="slideMasters/slideMaster17.xml"/><Relationship Id="rId22" Type="http://schemas.openxmlformats.org/officeDocument/2006/relationships/slideMaster" Target="slideMasters/slideMaster19.xml"/><Relationship Id="rId21" Type="http://schemas.openxmlformats.org/officeDocument/2006/relationships/slideMaster" Target="slideMasters/slideMaster18.xml"/><Relationship Id="rId24" Type="http://schemas.openxmlformats.org/officeDocument/2006/relationships/slideMaster" Target="slideMasters/slideMaster21.xml"/><Relationship Id="rId23" Type="http://schemas.openxmlformats.org/officeDocument/2006/relationships/slideMaster" Target="slideMasters/slideMaster20.xml"/><Relationship Id="rId26" Type="http://schemas.openxmlformats.org/officeDocument/2006/relationships/slideMaster" Target="slideMasters/slideMaster23.xml"/><Relationship Id="rId25" Type="http://schemas.openxmlformats.org/officeDocument/2006/relationships/slideMaster" Target="slideMasters/slideMaster22.xml"/><Relationship Id="rId28" Type="http://schemas.openxmlformats.org/officeDocument/2006/relationships/slideMaster" Target="slideMasters/slideMaster25.xml"/><Relationship Id="rId27" Type="http://schemas.openxmlformats.org/officeDocument/2006/relationships/slideMaster" Target="slideMasters/slideMaster24.xml"/><Relationship Id="rId29" Type="http://schemas.openxmlformats.org/officeDocument/2006/relationships/slideMaster" Target="slideMasters/slideMaster26.xml"/><Relationship Id="rId51" Type="http://schemas.openxmlformats.org/officeDocument/2006/relationships/font" Target="fonts/LexendSemiBold-bold.fntdata"/><Relationship Id="rId50" Type="http://schemas.openxmlformats.org/officeDocument/2006/relationships/font" Target="fonts/LexendSemiBold-regular.fntdata"/><Relationship Id="rId53" Type="http://schemas.openxmlformats.org/officeDocument/2006/relationships/font" Target="fonts/QuattrocentoSans-bold.fntdata"/><Relationship Id="rId52" Type="http://schemas.openxmlformats.org/officeDocument/2006/relationships/font" Target="fonts/QuattrocentoSans-regular.fntdata"/><Relationship Id="rId11" Type="http://schemas.openxmlformats.org/officeDocument/2006/relationships/slideMaster" Target="slideMasters/slideMaster8.xml"/><Relationship Id="rId55" Type="http://schemas.openxmlformats.org/officeDocument/2006/relationships/font" Target="fonts/QuattrocentoSans-boldItalic.fntdata"/><Relationship Id="rId10" Type="http://schemas.openxmlformats.org/officeDocument/2006/relationships/slideMaster" Target="slideMasters/slideMaster7.xml"/><Relationship Id="rId54" Type="http://schemas.openxmlformats.org/officeDocument/2006/relationships/font" Target="fonts/QuattrocentoSans-italic.fntdata"/><Relationship Id="rId13" Type="http://schemas.openxmlformats.org/officeDocument/2006/relationships/slideMaster" Target="slideMasters/slideMaster10.xml"/><Relationship Id="rId57" Type="http://schemas.openxmlformats.org/officeDocument/2006/relationships/font" Target="fonts/Lexend-bold.fntdata"/><Relationship Id="rId12" Type="http://schemas.openxmlformats.org/officeDocument/2006/relationships/slideMaster" Target="slideMasters/slideMaster9.xml"/><Relationship Id="rId56" Type="http://schemas.openxmlformats.org/officeDocument/2006/relationships/font" Target="fonts/Lexend-regular.fntdata"/><Relationship Id="rId15" Type="http://schemas.openxmlformats.org/officeDocument/2006/relationships/slideMaster" Target="slideMasters/slideMaster12.xml"/><Relationship Id="rId14" Type="http://schemas.openxmlformats.org/officeDocument/2006/relationships/slideMaster" Target="slideMasters/slideMaster11.xml"/><Relationship Id="rId17" Type="http://schemas.openxmlformats.org/officeDocument/2006/relationships/slideMaster" Target="slideMasters/slideMaster14.xml"/><Relationship Id="rId16" Type="http://schemas.openxmlformats.org/officeDocument/2006/relationships/slideMaster" Target="slideMasters/slideMaster13.xml"/><Relationship Id="rId19" Type="http://schemas.openxmlformats.org/officeDocument/2006/relationships/slideMaster" Target="slideMasters/slideMaster16.xml"/><Relationship Id="rId18" Type="http://schemas.openxmlformats.org/officeDocument/2006/relationships/slideMaster" Target="slideMasters/slideMaster1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0" name="Google Shape;110;p1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1" type="body"/>
          </p:nvPr>
        </p:nvSpPr>
        <p:spPr>
          <a:xfrm>
            <a:off x="609600" y="1600200"/>
            <a:ext cx="5410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5"/>
          <p:cNvSpPr txBox="1"/>
          <p:nvPr>
            <p:ph idx="2" type="body"/>
          </p:nvPr>
        </p:nvSpPr>
        <p:spPr>
          <a:xfrm>
            <a:off x="6172200" y="1600200"/>
            <a:ext cx="5410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1" name="Google Shape;141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3" name="Google Shape;143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9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86" name="Google Shape;186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87" name="Google Shape;187;p2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2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 rot="5400000">
            <a:off x="3467100" y="-1257300"/>
            <a:ext cx="5257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2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9"/>
          <p:cNvSpPr txBox="1"/>
          <p:nvPr>
            <p:ph type="title"/>
          </p:nvPr>
        </p:nvSpPr>
        <p:spPr>
          <a:xfrm rot="5400000">
            <a:off x="6827044" y="2102644"/>
            <a:ext cx="6767512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9"/>
          <p:cNvSpPr txBox="1"/>
          <p:nvPr>
            <p:ph idx="1" type="body"/>
          </p:nvPr>
        </p:nvSpPr>
        <p:spPr>
          <a:xfrm rot="5400000">
            <a:off x="1264444" y="-564356"/>
            <a:ext cx="6767512" cy="80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1" name="Google Shape;271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2" name="Google Shape;272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5" name="Google Shape;285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6" name="Google Shape;286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8" name="Google Shape;288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9" name="Google Shape;289;p3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1" name="Google Shape;301;p39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4" name="Google Shape;324;p4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5" name="Google Shape;325;p4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6" name="Google Shape;326;p4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8" name="Google Shape;338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0" name="Google Shape;340;p4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2" name="Google Shape;352;p4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3" name="Google Shape;353;p4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5" name="Google Shape;365;p4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6" name="Google Shape;366;p49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5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2" name="Google Shape;382;p5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5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8" name="Google Shape;398;p5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5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4" name="Google Shape;414;p5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5" name="Google Shape;415;p5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5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1" name="Google Shape;431;p5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2" name="Google Shape;432;p5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3" name="Google Shape;433;p5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4" name="Google Shape;434;p5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30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17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theme" Target="../theme/theme3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theme" Target="../theme/theme18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theme" Target="../theme/theme21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6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19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11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28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3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3.xml"/></Relationships>
</file>

<file path=ppt/slideMasters/_rels/slideMaster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4.xml"/></Relationships>
</file>

<file path=ppt/slideMasters/_rels/slideMaster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26.xml"/></Relationships>
</file>

<file path=ppt/slideMasters/_rels/slideMaster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5.xml"/></Relationships>
</file>

<file path=ppt/slideMasters/_rels/slideMaster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_rels/slideMaster17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16.xml"/></Relationships>
</file>

<file path=ppt/slideMasters/_rels/slideMaster18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5.xml"/><Relationship Id="rId3" Type="http://schemas.openxmlformats.org/officeDocument/2006/relationships/theme" Target="../theme/theme9.xml"/></Relationships>
</file>

<file path=ppt/slideMasters/_rels/slideMaster19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6.xml"/><Relationship Id="rId3" Type="http://schemas.openxmlformats.org/officeDocument/2006/relationships/theme" Target="../theme/theme2.xml"/></Relationships>
</file>

<file path=ppt/slideMasters/_rels/slideMaster20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7.xml"/><Relationship Id="rId3" Type="http://schemas.openxmlformats.org/officeDocument/2006/relationships/theme" Target="../theme/theme8.xml"/></Relationships>
</file>

<file path=ppt/slideMasters/_rels/slideMaster2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8.xml"/><Relationship Id="rId3" Type="http://schemas.openxmlformats.org/officeDocument/2006/relationships/theme" Target="../theme/theme29.xml"/></Relationships>
</file>

<file path=ppt/slideMasters/_rels/slideMaster2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9.xml"/><Relationship Id="rId3" Type="http://schemas.openxmlformats.org/officeDocument/2006/relationships/theme" Target="../theme/theme20.xml"/></Relationships>
</file>

<file path=ppt/slideMasters/_rels/slideMaster2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0.xml"/><Relationship Id="rId3" Type="http://schemas.openxmlformats.org/officeDocument/2006/relationships/theme" Target="../theme/theme10.xml"/></Relationships>
</file>

<file path=ppt/slideMasters/_rels/slideMaster24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1.xml"/><Relationship Id="rId3" Type="http://schemas.openxmlformats.org/officeDocument/2006/relationships/theme" Target="../theme/theme1.xml"/></Relationships>
</file>

<file path=ppt/slideMasters/_rels/slideMaster25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5.xml"/></Relationships>
</file>

<file path=ppt/slideMasters/_rels/slideMaster26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22.xml"/></Relationships>
</file>

<file path=ppt/slideMasters/_rels/slideMaster2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4.xml"/><Relationship Id="rId4" Type="http://schemas.openxmlformats.org/officeDocument/2006/relationships/theme" Target="../theme/theme12.xml"/></Relationships>
</file>

<file path=ppt/slideMasters/_rels/slideMaster2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theme" Target="../theme/theme14.xml"/></Relationships>
</file>

<file path=ppt/slideMasters/_rels/slideMaster29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23.xml"/></Relationships>
</file>

<file path=ppt/slideMasters/_rels/slideMaster30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7.xml"/><Relationship Id="rId4" Type="http://schemas.openxmlformats.org/officeDocument/2006/relationships/theme" Target="../theme/theme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6" name="Google Shape;6;p1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7" name="Google Shape;7;p1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8" name="Google Shape;8;p1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9" name="Google Shape;9;p1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0" name="Google Shape;10;p1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1" name="Google Shape;11;p1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2" name="Google Shape;12;p1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21" name="Google Shape;21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;p14" id="23" name="Google Shape;23;p3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24" name="Google Shape;24;p3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25" name="Google Shape;25;p3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26" name="Google Shape;26;p3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27" name="Google Shape;27;p3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28" name="Google Shape;28;p3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29" name="Google Shape;29;p3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7" name="Google Shape;37;p5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8" name="Google Shape;38;p5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9" name="Google Shape;39;p5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40" name="Google Shape;40;p5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41" name="Google Shape;41;p5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42" name="Google Shape;42;p5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43" name="Google Shape;43;p5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50" name="Google Shape;50;p7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51" name="Google Shape;51;p7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52" name="Google Shape;52;p7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53" name="Google Shape;53;p7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54" name="Google Shape;54;p7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55" name="Google Shape;55;p7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57" name="Google Shape;57;p7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61" name="Google Shape;61;p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62" name="Google Shape;62;p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63" name="Google Shape;63;p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64" name="Google Shape;64;p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65" name="Google Shape;65;p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66" name="Google Shape;66;p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67" name="Google Shape;67;p8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70" name="Google Shape;70;p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71" name="Google Shape;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9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descr="Google Shape;24;p14" id="73" name="Google Shape;73;p9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74" name="Google Shape;74;p9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75" name="Google Shape;75;p9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76" name="Google Shape;76;p9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77" name="Google Shape;77;p9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78" name="Google Shape;78;p9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79" name="Google Shape;79;p9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82" name="Google Shape;82;p10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83" name="Google Shape;83;p10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84" name="Google Shape;84;p10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85" name="Google Shape;85;p10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86" name="Google Shape;86;p10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87" name="Google Shape;87;p10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88" name="Google Shape;88;p10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0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97" name="Google Shape;97;p12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98" name="Google Shape;98;p12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99" name="Google Shape;99;p12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00" name="Google Shape;100;p12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01" name="Google Shape;101;p12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02" name="Google Shape;102;p12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03" name="Google Shape;103;p12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12" name="Google Shape;112;p14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13" name="Google Shape;113;p14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14" name="Google Shape;114;p14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15" name="Google Shape;115;p14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16" name="Google Shape;116;p14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17" name="Google Shape;117;p14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18" name="Google Shape;118;p14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1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28" name="Google Shape;128;p16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29" name="Google Shape;129;p16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30" name="Google Shape;130;p16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31" name="Google Shape;131;p16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32" name="Google Shape;132;p16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33" name="Google Shape;133;p16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34" name="Google Shape;134;p16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1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46" name="Google Shape;146;p1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47" name="Google Shape;147;p1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48" name="Google Shape;148;p1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49" name="Google Shape;149;p1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50" name="Google Shape;150;p1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51" name="Google Shape;151;p1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52" name="Google Shape;152;p18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18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18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60" name="Google Shape;160;p20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61" name="Google Shape;161;p20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62" name="Google Shape;162;p20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63" name="Google Shape;163;p20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64" name="Google Shape;164;p20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65" name="Google Shape;165;p20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66" name="Google Shape;166;p20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73" name="Google Shape;173;p22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74" name="Google Shape;174;p22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75" name="Google Shape;175;p22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76" name="Google Shape;176;p22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77" name="Google Shape;177;p22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78" name="Google Shape;178;p22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79" name="Google Shape;179;p22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2" name="Google Shape;182;p2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189" name="Google Shape;189;p24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190" name="Google Shape;190;p24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191" name="Google Shape;191;p24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192" name="Google Shape;192;p24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193" name="Google Shape;193;p24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194" name="Google Shape;194;p24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195" name="Google Shape;195;p24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2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05" name="Google Shape;205;p26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06" name="Google Shape;206;p26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07" name="Google Shape;207;p26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08" name="Google Shape;208;p26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09" name="Google Shape;209;p26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10" name="Google Shape;210;p26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11" name="Google Shape;211;p26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6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" name="Google Shape;213;p26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4" name="Google Shape;214;p2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20" name="Google Shape;220;p2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21" name="Google Shape;221;p2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22" name="Google Shape;222;p2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23" name="Google Shape;223;p2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24" name="Google Shape;224;p2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25" name="Google Shape;225;p2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26" name="Google Shape;226;p28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8"/>
          <p:cNvSpPr txBox="1"/>
          <p:nvPr>
            <p:ph type="title"/>
          </p:nvPr>
        </p:nvSpPr>
        <p:spPr>
          <a:xfrm>
            <a:off x="609600" y="90487"/>
            <a:ext cx="10972800" cy="150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28"/>
          <p:cNvSpPr txBox="1"/>
          <p:nvPr>
            <p:ph idx="1" type="body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35" name="Google Shape;235;p30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36" name="Google Shape;236;p30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37" name="Google Shape;237;p30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38" name="Google Shape;238;p30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39" name="Google Shape;239;p30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40" name="Google Shape;240;p30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41" name="Google Shape;241;p30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0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48" name="Google Shape;248;p32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49" name="Google Shape;249;p32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50" name="Google Shape;250;p32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51" name="Google Shape;251;p32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52" name="Google Shape;252;p32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53" name="Google Shape;253;p32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54" name="Google Shape;254;p32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61" name="Google Shape;261;p34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62" name="Google Shape;262;p34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63" name="Google Shape;263;p34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64" name="Google Shape;264;p34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65" name="Google Shape;265;p34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66" name="Google Shape;266;p34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67" name="Google Shape;267;p34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75" name="Google Shape;275;p36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76" name="Google Shape;276;p36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77" name="Google Shape;277;p36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78" name="Google Shape;278;p36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79" name="Google Shape;279;p36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80" name="Google Shape;280;p36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81" name="Google Shape;281;p36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291" name="Google Shape;291;p3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292" name="Google Shape;292;p3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293" name="Google Shape;293;p3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294" name="Google Shape;294;p3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295" name="Google Shape;295;p3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296" name="Google Shape;296;p3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297" name="Google Shape;297;p38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8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03" name="Google Shape;303;p40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04" name="Google Shape;304;p40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05" name="Google Shape;305;p40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306" name="Google Shape;306;p40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307" name="Google Shape;307;p40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308" name="Google Shape;308;p40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309" name="Google Shape;309;p40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0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14" name="Google Shape;314;p42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15" name="Google Shape;315;p42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16" name="Google Shape;316;p42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317" name="Google Shape;317;p42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318" name="Google Shape;318;p42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319" name="Google Shape;319;p42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320" name="Google Shape;320;p42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28" name="Google Shape;328;p44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29" name="Google Shape;329;p44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30" name="Google Shape;330;p44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331" name="Google Shape;331;p44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332" name="Google Shape;332;p44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333" name="Google Shape;333;p44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334" name="Google Shape;334;p44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42" name="Google Shape;342;p46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43" name="Google Shape;343;p46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44" name="Google Shape;344;p46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345" name="Google Shape;345;p46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346" name="Google Shape;346;p46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347" name="Google Shape;347;p46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348" name="Google Shape;348;p46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12;p13" id="355" name="Google Shape;355;p4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3;p13" id="356" name="Google Shape;356;p4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4;p13" id="357" name="Google Shape;357;p4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5;p13" id="358" name="Google Shape;358;p4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6;p13" id="359" name="Google Shape;359;p4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7;p13" id="360" name="Google Shape;360;p4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19;p13" id="361" name="Google Shape;361;p48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8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  <a:defRPr b="0" i="0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368" name="Google Shape;368;p5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369" name="Google Shape;369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;p14" id="370" name="Google Shape;370;p50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371" name="Google Shape;371;p50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372" name="Google Shape;372;p50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373" name="Google Shape;373;p50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374" name="Google Shape;374;p50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375" name="Google Shape;375;p50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376" name="Google Shape;376;p50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0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8" name="Google Shape;378;p50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384" name="Google Shape;384;p5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385" name="Google Shape;385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;p14" id="386" name="Google Shape;386;p52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387" name="Google Shape;387;p52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388" name="Google Shape;388;p52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389" name="Google Shape;389;p52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390" name="Google Shape;390;p52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391" name="Google Shape;391;p52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392" name="Google Shape;392;p52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2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4" name="Google Shape;394;p52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400" name="Google Shape;400;p5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401" name="Google Shape;401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;p14" id="402" name="Google Shape;402;p54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403" name="Google Shape;403;p54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404" name="Google Shape;404;p54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405" name="Google Shape;405;p54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406" name="Google Shape;406;p54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407" name="Google Shape;407;p54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408" name="Google Shape;408;p54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54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0" name="Google Shape;410;p54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1;p14" id="417" name="Google Shape;417;p5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96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gle Shape;22;p14" id="418" name="Google Shape;418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79975" y="111125"/>
            <a:ext cx="1804987" cy="782637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;p14" id="419" name="Google Shape;419;p56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;p14" id="420" name="Google Shape;420;p56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6;p14" id="421" name="Google Shape;421;p56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7;p14" id="422" name="Google Shape;422;p56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8;p14" id="423" name="Google Shape;423;p56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9;p14" id="424" name="Google Shape;424;p56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0;p14" id="425" name="Google Shape;425;p56"/>
          <p:cNvSpPr/>
          <p:nvPr/>
        </p:nvSpPr>
        <p:spPr>
          <a:xfrm>
            <a:off x="-425450" y="58928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B5B5B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6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7" name="Google Shape;427;p56"/>
          <p:cNvSpPr txBox="1"/>
          <p:nvPr>
            <p:ph idx="12" type="sldNum"/>
          </p:nvPr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  <a:defRPr b="0" i="0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hyperlink" Target="mailto:kedarnayak360@gmail.com" TargetMode="External"/><Relationship Id="rId5" Type="http://schemas.openxmlformats.org/officeDocument/2006/relationships/hyperlink" Target="mailto:Namdar.mehdi14@gmail.com" TargetMode="External"/><Relationship Id="rId6" Type="http://schemas.openxmlformats.org/officeDocument/2006/relationships/hyperlink" Target="mailto:patelpal264@gmail.com" TargetMode="External"/><Relationship Id="rId7" Type="http://schemas.openxmlformats.org/officeDocument/2006/relationships/hyperlink" Target="mailto:Kartikgautam4004@gmail.com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41;p1" id="439" name="Google Shape;43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42;p1" id="440" name="Google Shape;440;p58"/>
          <p:cNvSpPr txBox="1"/>
          <p:nvPr/>
        </p:nvSpPr>
        <p:spPr>
          <a:xfrm>
            <a:off x="696912" y="2747962"/>
            <a:ext cx="109854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5400"/>
              <a:buFont typeface="Arial"/>
              <a:buNone/>
            </a:pPr>
            <a:r>
              <a:rPr b="1" i="0" lang="en-US" sz="5400" u="none">
                <a:solidFill>
                  <a:srgbClr val="E86514"/>
                </a:solidFill>
                <a:latin typeface="Arial"/>
                <a:ea typeface="Arial"/>
                <a:cs typeface="Arial"/>
                <a:sym typeface="Arial"/>
              </a:rPr>
              <a:t>Tarang</a:t>
            </a:r>
            <a:endParaRPr b="1" i="0" sz="5400" u="none">
              <a:solidFill>
                <a:srgbClr val="E8651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5400"/>
              <a:buFont typeface="Arial"/>
              <a:buNone/>
            </a:pPr>
            <a:r>
              <a:rPr lang="en-US" sz="2100">
                <a:solidFill>
                  <a:srgbClr val="F37121"/>
                </a:solidFill>
              </a:rPr>
              <a:t> </a:t>
            </a:r>
            <a:r>
              <a:rPr lang="en-US" sz="2500">
                <a:solidFill>
                  <a:srgbClr val="F37121"/>
                </a:solidFill>
              </a:rPr>
              <a:t>Heart Intelligence In Motion</a:t>
            </a:r>
            <a:endParaRPr b="1" sz="2800">
              <a:solidFill>
                <a:srgbClr val="F3712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28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441" name="Google Shape;441;p58"/>
          <p:cNvGrpSpPr/>
          <p:nvPr/>
        </p:nvGrpSpPr>
        <p:grpSpPr>
          <a:xfrm>
            <a:off x="9791700" y="5740400"/>
            <a:ext cx="2525712" cy="485775"/>
            <a:chOff x="0" y="0"/>
            <a:chExt cx="2524554" cy="485041"/>
          </a:xfrm>
        </p:grpSpPr>
        <p:sp>
          <p:nvSpPr>
            <p:cNvPr descr="Google Shape;244;p1" id="442" name="Google Shape;442;p58"/>
            <p:cNvSpPr/>
            <p:nvPr/>
          </p:nvSpPr>
          <p:spPr>
            <a:xfrm>
              <a:off x="0" y="0"/>
              <a:ext cx="2180872" cy="485041"/>
            </a:xfrm>
            <a:prstGeom prst="roundRect">
              <a:avLst>
                <a:gd fmla="val 10800" name="adj"/>
              </a:avLst>
            </a:prstGeom>
            <a:solidFill>
              <a:srgbClr val="F37121">
                <a:alpha val="20000"/>
              </a:srgbClr>
            </a:solidFill>
            <a:ln cap="flat" cmpd="sng" w="12700">
              <a:solidFill>
                <a:srgbClr val="F371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>
                <a:solidFill>
                  <a:srgbClr val="034EA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descr="Google Shape;245;p1" id="443" name="Google Shape;443;p58"/>
            <p:cNvSpPr txBox="1"/>
            <p:nvPr/>
          </p:nvSpPr>
          <p:spPr>
            <a:xfrm>
              <a:off x="151135" y="75328"/>
              <a:ext cx="2373419" cy="334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45700" spcFirstLastPara="1" rIns="45700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Quattrocento Sans"/>
                <a:buNone/>
              </a:pPr>
              <a:r>
                <a:rPr b="0" i="0" lang="en-US" sz="1600" u="none">
                  <a:solidFill>
                    <a:srgbClr val="FFFFFF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Smart Healthcare </a:t>
              </a:r>
              <a:endParaRPr/>
            </a:p>
          </p:txBody>
        </p:sp>
      </p:grpSp>
      <p:sp>
        <p:nvSpPr>
          <p:cNvPr descr="Google Shape;246;p1" id="444" name="Google Shape;444;p5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47;p1" id="445" name="Google Shape;445;p5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48;p1" id="446" name="Google Shape;446;p5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49;p1" id="447" name="Google Shape;447;p5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0;p1" id="448" name="Google Shape;448;p5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1;p1" id="449" name="Google Shape;449;p5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252;p1" id="450" name="Google Shape;450;p58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253;p1" id="451" name="Google Shape;451;p58"/>
          <p:cNvSpPr txBox="1"/>
          <p:nvPr/>
        </p:nvSpPr>
        <p:spPr>
          <a:xfrm>
            <a:off x="601662" y="4841875"/>
            <a:ext cx="1098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E86514"/>
                </a:solidFill>
              </a:rPr>
              <a:t>  </a:t>
            </a:r>
            <a:r>
              <a:rPr b="1" i="0" lang="en-US" sz="2800" u="none">
                <a:solidFill>
                  <a:srgbClr val="E86514"/>
                </a:solidFill>
                <a:latin typeface="Arial"/>
                <a:ea typeface="Arial"/>
                <a:cs typeface="Arial"/>
                <a:sym typeface="Arial"/>
              </a:rPr>
              <a:t>By Team Ocelleon</a:t>
            </a:r>
            <a:endParaRPr/>
          </a:p>
        </p:txBody>
      </p:sp>
      <p:pic>
        <p:nvPicPr>
          <p:cNvPr descr="Google Shape;254;p1" id="452" name="Google Shape;45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6262" y="261937"/>
            <a:ext cx="4929187" cy="2135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oogle Shape;260;p2" id="457" name="Google Shape;45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61;p2" id="458" name="Google Shape;458;p59"/>
          <p:cNvSpPr txBox="1"/>
          <p:nvPr/>
        </p:nvSpPr>
        <p:spPr>
          <a:xfrm>
            <a:off x="571500" y="190500"/>
            <a:ext cx="10423525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Table content</a:t>
            </a:r>
            <a:endParaRPr/>
          </a:p>
        </p:txBody>
      </p:sp>
      <p:sp>
        <p:nvSpPr>
          <p:cNvPr descr="Google Shape;262;p2" id="459" name="Google Shape;459;p59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263;p2" id="460" name="Google Shape;460;p59"/>
          <p:cNvSpPr txBox="1"/>
          <p:nvPr/>
        </p:nvSpPr>
        <p:spPr>
          <a:xfrm>
            <a:off x="438150" y="1077912"/>
            <a:ext cx="1042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2200"/>
              <a:buFont typeface="Arial"/>
              <a:buNone/>
            </a:pPr>
            <a:r>
              <a:rPr b="1" i="1" lang="en-US" sz="2400" u="sng">
                <a:solidFill>
                  <a:srgbClr val="1B236A"/>
                </a:solidFill>
                <a:latin typeface="Roboto Serif"/>
                <a:ea typeface="Roboto Serif"/>
                <a:cs typeface="Roboto Serif"/>
                <a:sym typeface="Roboto Serif"/>
              </a:rPr>
              <a:t>Contents</a:t>
            </a:r>
            <a:endParaRPr b="1" i="1" sz="1600" u="sng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descr="Google Shape;264;p2" id="461" name="Google Shape;461;p59"/>
          <p:cNvSpPr txBox="1"/>
          <p:nvPr/>
        </p:nvSpPr>
        <p:spPr>
          <a:xfrm>
            <a:off x="438150" y="1492250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1.   Introduction  ....................  3</a:t>
            </a:r>
            <a:endParaRPr sz="1600"/>
          </a:p>
        </p:txBody>
      </p:sp>
      <p:sp>
        <p:nvSpPr>
          <p:cNvPr descr="Google Shape;265;p2" id="462" name="Google Shape;462;p59"/>
          <p:cNvSpPr txBox="1"/>
          <p:nvPr/>
        </p:nvSpPr>
        <p:spPr>
          <a:xfrm>
            <a:off x="438150" y="1965325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2.   Objective  (Problem Statement, Solution, User Flow)  ....................  4</a:t>
            </a:r>
            <a:endParaRPr sz="1600"/>
          </a:p>
        </p:txBody>
      </p:sp>
      <p:sp>
        <p:nvSpPr>
          <p:cNvPr descr="Google Shape;266;p2" id="463" name="Google Shape;463;p59"/>
          <p:cNvSpPr txBox="1"/>
          <p:nvPr/>
        </p:nvSpPr>
        <p:spPr>
          <a:xfrm>
            <a:off x="438150" y="2514600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3.   System Diagram  (Components, Wireless Technology, Edge AI)  ....................  5</a:t>
            </a:r>
            <a:endParaRPr sz="1600"/>
          </a:p>
        </p:txBody>
      </p:sp>
      <p:sp>
        <p:nvSpPr>
          <p:cNvPr descr="Google Shape;267;p2" id="464" name="Google Shape;464;p59"/>
          <p:cNvSpPr txBox="1"/>
          <p:nvPr/>
        </p:nvSpPr>
        <p:spPr>
          <a:xfrm>
            <a:off x="438150" y="3062287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4.   Resource Allocation  (Human Resources, Equipment &amp; Tools)  ....................  6</a:t>
            </a:r>
            <a:endParaRPr sz="1600"/>
          </a:p>
        </p:txBody>
      </p:sp>
      <p:sp>
        <p:nvSpPr>
          <p:cNvPr descr="Google Shape;268;p2" id="465" name="Google Shape;465;p59"/>
          <p:cNvSpPr txBox="1"/>
          <p:nvPr/>
        </p:nvSpPr>
        <p:spPr>
          <a:xfrm>
            <a:off x="438150" y="3611562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5.   Project Milestones  (Goals, Timeline)  ....................  7</a:t>
            </a:r>
            <a:endParaRPr sz="1600"/>
          </a:p>
        </p:txBody>
      </p:sp>
      <p:sp>
        <p:nvSpPr>
          <p:cNvPr descr="Google Shape;269;p2" id="466" name="Google Shape;466;p59"/>
          <p:cNvSpPr txBox="1"/>
          <p:nvPr/>
        </p:nvSpPr>
        <p:spPr>
          <a:xfrm>
            <a:off x="438150" y="4159250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6.   Work Process  (Meetings, Tracking, AI Pipeline)  ....................  8</a:t>
            </a:r>
            <a:endParaRPr sz="1600"/>
          </a:p>
        </p:txBody>
      </p:sp>
      <p:sp>
        <p:nvSpPr>
          <p:cNvPr descr="TextBox 269" id="467" name="Google Shape;467;p59"/>
          <p:cNvSpPr txBox="1"/>
          <p:nvPr/>
        </p:nvSpPr>
        <p:spPr>
          <a:xfrm>
            <a:off x="438150" y="4708525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7.   Risk Management  (Forecasted Risks, Mitigation Actions)  ....................  9</a:t>
            </a:r>
            <a:endParaRPr sz="1600"/>
          </a:p>
        </p:txBody>
      </p:sp>
      <p:sp>
        <p:nvSpPr>
          <p:cNvPr descr="TextBox 270" id="468" name="Google Shape;468;p59"/>
          <p:cNvSpPr txBox="1"/>
          <p:nvPr/>
        </p:nvSpPr>
        <p:spPr>
          <a:xfrm>
            <a:off x="438150" y="5229225"/>
            <a:ext cx="10880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700" u="none">
                <a:solidFill>
                  <a:srgbClr val="447BC4"/>
                </a:solidFill>
              </a:rPr>
              <a:t>  </a:t>
            </a:r>
            <a:endParaRPr i="0" sz="1700" u="none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Font typeface="Arial"/>
              <a:buNone/>
            </a:pPr>
            <a:r>
              <a:rPr i="0" lang="en-US" sz="1900" u="none">
                <a:solidFill>
                  <a:srgbClr val="447BC4"/>
                </a:solidFill>
              </a:rPr>
              <a:t>8.   Additional Information  (Outputs, Feasibility, Customizability)  ....................  10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275;p3" id="473" name="Google Shape;473;p60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sp>
        <p:nvSpPr>
          <p:cNvPr descr="Google Shape;276;p3" id="474" name="Google Shape;474;p60"/>
          <p:cNvSpPr txBox="1"/>
          <p:nvPr/>
        </p:nvSpPr>
        <p:spPr>
          <a:xfrm>
            <a:off x="11755100" y="6415087"/>
            <a:ext cx="18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5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sz="1500"/>
          </a:p>
        </p:txBody>
      </p:sp>
      <p:sp>
        <p:nvSpPr>
          <p:cNvPr descr="Google Shape;277;p3" id="475" name="Google Shape;475;p60"/>
          <p:cNvSpPr txBox="1"/>
          <p:nvPr/>
        </p:nvSpPr>
        <p:spPr>
          <a:xfrm>
            <a:off x="381025" y="1100637"/>
            <a:ext cx="113379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Char char="●"/>
            </a:pPr>
            <a:r>
              <a:rPr i="0" lang="en-US" sz="1700" u="none">
                <a:solidFill>
                  <a:srgbClr val="447BC4"/>
                </a:solidFill>
              </a:rPr>
              <a:t>Team Name: Ocelleon   </a:t>
            </a:r>
            <a:endParaRPr i="0" sz="1700" u="none">
              <a:solidFill>
                <a:srgbClr val="447BC4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Char char="●"/>
            </a:pPr>
            <a:r>
              <a:rPr i="0" lang="en-US" sz="1700" u="none">
                <a:solidFill>
                  <a:srgbClr val="447BC4"/>
                </a:solidFill>
              </a:rPr>
              <a:t>Team Motto: "Accuracy that stays in motion."   </a:t>
            </a:r>
            <a:endParaRPr i="0" sz="1700" u="none">
              <a:solidFill>
                <a:srgbClr val="447BC4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Char char="●"/>
            </a:pPr>
            <a:r>
              <a:rPr i="0" lang="en-US" sz="1700" u="none">
                <a:solidFill>
                  <a:srgbClr val="447BC4"/>
                </a:solidFill>
              </a:rPr>
              <a:t>Team Size:  4 Members  </a:t>
            </a:r>
            <a:endParaRPr i="0" sz="1700" u="none">
              <a:solidFill>
                <a:srgbClr val="447BC4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Char char="●"/>
            </a:pPr>
            <a:r>
              <a:rPr i="0" lang="en-US" sz="1700" u="none">
                <a:solidFill>
                  <a:srgbClr val="447BC4"/>
                </a:solidFill>
              </a:rPr>
              <a:t>Team Lead:  Kedar Nayak</a:t>
            </a:r>
            <a:endParaRPr i="0" sz="1700" u="none">
              <a:solidFill>
                <a:srgbClr val="000000"/>
              </a:solidFill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700"/>
              <a:buChar char="●"/>
            </a:pPr>
            <a:r>
              <a:rPr i="0" lang="en-US" sz="1700" u="none">
                <a:solidFill>
                  <a:srgbClr val="447BC4"/>
                </a:solidFill>
              </a:rPr>
              <a:t>Competition:  IoT Challenge 2026 </a:t>
            </a:r>
            <a:r>
              <a:rPr lang="en-US" sz="1700">
                <a:solidFill>
                  <a:srgbClr val="447BC4"/>
                </a:solidFill>
              </a:rPr>
              <a:t>-</a:t>
            </a:r>
            <a:r>
              <a:rPr i="0" lang="en-US" sz="1700" u="none">
                <a:solidFill>
                  <a:srgbClr val="447BC4"/>
                </a:solidFill>
              </a:rPr>
              <a:t> Smart Healthcare with Edge AI</a:t>
            </a:r>
            <a:endParaRPr sz="1700"/>
          </a:p>
        </p:txBody>
      </p:sp>
      <p:pic>
        <p:nvPicPr>
          <p:cNvPr descr="Google Shape;278;p3" id="476" name="Google Shape;47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279;p3" id="477" name="Google Shape;477;p60"/>
          <p:cNvSpPr txBox="1"/>
          <p:nvPr/>
        </p:nvSpPr>
        <p:spPr>
          <a:xfrm>
            <a:off x="427050" y="2993152"/>
            <a:ext cx="5530500" cy="20472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04775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400"/>
              <a:buFont typeface="Arial"/>
              <a:buNone/>
            </a:pPr>
            <a:r>
              <a:rPr b="1" i="0" lang="en-US" sz="1600" u="none">
                <a:solidFill>
                  <a:srgbClr val="1B236A"/>
                </a:solidFill>
                <a:latin typeface="Lexend"/>
                <a:ea typeface="Lexend"/>
                <a:cs typeface="Lexend"/>
                <a:sym typeface="Lexend"/>
              </a:rPr>
              <a:t>Name:  Kedar Nayak</a:t>
            </a:r>
            <a:endParaRPr b="1" i="0" sz="1600" u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117475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Role: System Architect · Hardware MVP · Power </a:t>
            </a:r>
            <a:r>
              <a:rPr lang="en-US" sz="1600">
                <a:solidFill>
                  <a:srgbClr val="447BC4"/>
                </a:solidFill>
              </a:rPr>
              <a:t>Optimization</a:t>
            </a:r>
            <a:r>
              <a:rPr i="0" lang="en-US" sz="1600" u="none">
                <a:solidFill>
                  <a:srgbClr val="447BC4"/>
                </a:solidFill>
              </a:rPr>
              <a:t> </a:t>
            </a:r>
            <a:endParaRPr i="0" sz="1600" u="none">
              <a:solidFill>
                <a:srgbClr val="000000"/>
              </a:solidFill>
            </a:endParaRPr>
          </a:p>
          <a:p>
            <a:pPr indent="-123825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Email : </a:t>
            </a:r>
            <a:r>
              <a:rPr i="0" lang="en-US" sz="1600" u="sng">
                <a:solidFill>
                  <a:schemeClr val="hlink"/>
                </a:solidFill>
                <a:hlinkClick r:id="rId4"/>
              </a:rPr>
              <a:t>kedarnayak360@gmail.com</a:t>
            </a:r>
            <a:endParaRPr sz="1600">
              <a:solidFill>
                <a:srgbClr val="447BC4"/>
              </a:solidFill>
            </a:endParaRPr>
          </a:p>
          <a:p>
            <a:pPr indent="-123825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B.Tech in E&amp;I 3rd Year , Nirma University </a:t>
            </a:r>
            <a:endParaRPr sz="1600"/>
          </a:p>
          <a:p>
            <a:pPr indent="-123825" lvl="0" marL="104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Expertise:  PRS + LDMA zero-CPU pipeline, EM2 power optimization, power efficiency architecture 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descr="Google Shape;280;p3" id="478" name="Google Shape;478;p60"/>
          <p:cNvSpPr txBox="1"/>
          <p:nvPr/>
        </p:nvSpPr>
        <p:spPr>
          <a:xfrm>
            <a:off x="427050" y="2490250"/>
            <a:ext cx="11337900" cy="4155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2000"/>
              <a:buFont typeface="Arial"/>
              <a:buNone/>
            </a:pPr>
            <a:r>
              <a:rPr b="1" i="1" lang="en-US" sz="2100" u="sng">
                <a:solidFill>
                  <a:srgbClr val="1B236A"/>
                </a:solidFill>
                <a:latin typeface="Roboto Serif"/>
                <a:ea typeface="Roboto Serif"/>
                <a:cs typeface="Roboto Serif"/>
                <a:sym typeface="Roboto Serif"/>
              </a:rPr>
              <a:t>Team  Members</a:t>
            </a:r>
            <a:endParaRPr b="1" i="1" sz="2100" u="sng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descr="Google Shape;281;p3" id="479" name="Google Shape;479;p60"/>
          <p:cNvSpPr txBox="1"/>
          <p:nvPr/>
        </p:nvSpPr>
        <p:spPr>
          <a:xfrm>
            <a:off x="6255250" y="4672085"/>
            <a:ext cx="5412300" cy="20319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79375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400"/>
              <a:buFont typeface="Arial"/>
              <a:buNone/>
            </a:pPr>
            <a:r>
              <a:t/>
            </a:r>
            <a:endParaRPr b="1" i="0" sz="1500" u="none">
              <a:solidFill>
                <a:srgbClr val="1B236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400"/>
              <a:buFont typeface="Arial"/>
              <a:buNone/>
            </a:pPr>
            <a:r>
              <a:rPr b="1" i="0" lang="en-US" sz="1600" u="none">
                <a:solidFill>
                  <a:srgbClr val="1B236A"/>
                </a:solidFill>
                <a:latin typeface="Lexend"/>
                <a:ea typeface="Lexend"/>
                <a:cs typeface="Lexend"/>
                <a:sym typeface="Lexend"/>
              </a:rPr>
              <a:t>Name:  </a:t>
            </a:r>
            <a:r>
              <a:rPr b="1" lang="en-US" sz="1600">
                <a:solidFill>
                  <a:srgbClr val="1B236A"/>
                </a:solidFill>
                <a:latin typeface="Lexend"/>
                <a:ea typeface="Lexend"/>
                <a:cs typeface="Lexend"/>
                <a:sym typeface="Lexend"/>
              </a:rPr>
              <a:t>Mohammad Mehdi Namdar</a:t>
            </a:r>
            <a:endParaRPr b="1" i="0" sz="1600" u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9525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Role:  AI / ML · Signal Processing · Edge Intelligence</a:t>
            </a:r>
            <a:endParaRPr i="0" sz="1600" u="none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Email :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Namdar.mehdi14@gmail.com</a:t>
            </a:r>
            <a:r>
              <a:rPr lang="en-US" sz="1600">
                <a:solidFill>
                  <a:srgbClr val="447BC4"/>
                </a:solidFill>
              </a:rPr>
              <a:t> </a:t>
            </a:r>
            <a:endParaRPr sz="1600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lang="en-US" sz="1600">
                <a:solidFill>
                  <a:srgbClr val="447BC4"/>
                </a:solidFill>
              </a:rPr>
              <a:t>B.Tech in E&amp;I 3rd Year, NIrma University</a:t>
            </a:r>
            <a:endParaRPr sz="1600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Expertise:  NLMS adaptive filter, 1D-CNN model training, Int8 quantization, TFLite Micro deployment</a:t>
            </a:r>
            <a:endParaRPr sz="16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descr="Google Shape;282;p3" id="480" name="Google Shape;480;p60"/>
          <p:cNvSpPr txBox="1"/>
          <p:nvPr/>
        </p:nvSpPr>
        <p:spPr>
          <a:xfrm>
            <a:off x="381000" y="4903082"/>
            <a:ext cx="5786700" cy="15699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0795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400"/>
              <a:buFont typeface="Arial"/>
              <a:buNone/>
            </a:pPr>
            <a:r>
              <a:rPr b="1" i="0" lang="en-US" sz="1600" u="none">
                <a:solidFill>
                  <a:srgbClr val="1B236A"/>
                </a:solidFill>
                <a:latin typeface="Lexend"/>
                <a:ea typeface="Lexend"/>
                <a:cs typeface="Lexend"/>
                <a:sym typeface="Lexend"/>
              </a:rPr>
              <a:t>Name:  Pal Patel</a:t>
            </a:r>
            <a:endParaRPr b="1" i="0" sz="1700" u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2065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Role:  Hardware Design · Dashboard · Optimization</a:t>
            </a:r>
            <a:endParaRPr sz="1600"/>
          </a:p>
          <a:p>
            <a:pPr indent="-12065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Email : </a:t>
            </a:r>
            <a:r>
              <a:rPr i="0" lang="en-US" sz="1600" u="sng">
                <a:solidFill>
                  <a:schemeClr val="hlink"/>
                </a:solidFill>
                <a:hlinkClick r:id="rId6"/>
              </a:rPr>
              <a:t>patelpal264@gmail.com</a:t>
            </a:r>
            <a:endParaRPr sz="1600">
              <a:solidFill>
                <a:srgbClr val="447BC4"/>
              </a:solidFill>
            </a:endParaRPr>
          </a:p>
          <a:p>
            <a:pPr indent="-12065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lang="en-US" sz="1600">
                <a:solidFill>
                  <a:srgbClr val="447BC4"/>
                </a:solidFill>
              </a:rPr>
              <a:t>B.Tech in E&amp;I 3rd Year, NIrma University</a:t>
            </a:r>
            <a:endParaRPr sz="1600"/>
          </a:p>
          <a:p>
            <a:pPr indent="-127000" lvl="0" marL="107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Expertise:  PCB integration, AD8</a:t>
            </a:r>
            <a:r>
              <a:rPr lang="en-US" sz="1600">
                <a:solidFill>
                  <a:srgbClr val="447BC4"/>
                </a:solidFill>
              </a:rPr>
              <a:t>232</a:t>
            </a:r>
            <a:r>
              <a:rPr i="0" lang="en-US" sz="1600" u="none">
                <a:solidFill>
                  <a:srgbClr val="447BC4"/>
                </a:solidFill>
              </a:rPr>
              <a:t> AFE circuit, </a:t>
            </a:r>
            <a:r>
              <a:rPr lang="en-US" sz="1600">
                <a:solidFill>
                  <a:srgbClr val="447BC4"/>
                </a:solidFill>
              </a:rPr>
              <a:t>C</a:t>
            </a:r>
            <a:r>
              <a:rPr i="0" lang="en-US" sz="1600" u="none">
                <a:solidFill>
                  <a:srgbClr val="447BC4"/>
                </a:solidFill>
              </a:rPr>
              <a:t>linical UI visualization</a:t>
            </a:r>
            <a:endParaRPr sz="1600"/>
          </a:p>
        </p:txBody>
      </p:sp>
      <p:sp>
        <p:nvSpPr>
          <p:cNvPr descr="Google Shape;283;p3" id="481" name="Google Shape;481;p60"/>
          <p:cNvSpPr txBox="1"/>
          <p:nvPr/>
        </p:nvSpPr>
        <p:spPr>
          <a:xfrm>
            <a:off x="6239975" y="3025425"/>
            <a:ext cx="5144100" cy="18009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400"/>
              <a:buFont typeface="Arial"/>
              <a:buNone/>
            </a:pPr>
            <a:r>
              <a:rPr b="1" i="0" lang="en-US" sz="1600" u="none">
                <a:solidFill>
                  <a:srgbClr val="1B236A"/>
                </a:solidFill>
                <a:latin typeface="Lexend"/>
                <a:ea typeface="Lexend"/>
                <a:cs typeface="Lexend"/>
                <a:sym typeface="Lexend"/>
              </a:rPr>
              <a:t>Name:  Kartik Gautam</a:t>
            </a:r>
            <a:endParaRPr b="1" i="0" sz="1600" u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9525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500"/>
              <a:buFont typeface="Arial"/>
              <a:buChar char="•"/>
            </a:pPr>
            <a:r>
              <a:rPr lang="en-US" sz="15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Role:  Hardware Integration · BLE &amp; Sensor </a:t>
            </a:r>
            <a:r>
              <a:rPr lang="en-US" sz="1600">
                <a:solidFill>
                  <a:srgbClr val="447BC4"/>
                </a:solidFill>
              </a:rPr>
              <a:t>F</a:t>
            </a:r>
            <a:r>
              <a:rPr i="0" lang="en-US" sz="1600" u="none">
                <a:solidFill>
                  <a:srgbClr val="447BC4"/>
                </a:solidFill>
              </a:rPr>
              <a:t>usion</a:t>
            </a:r>
            <a:endParaRPr i="0" sz="1600" u="none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Email : </a:t>
            </a:r>
            <a:r>
              <a:rPr lang="en-US" sz="1600" u="sng">
                <a:solidFill>
                  <a:schemeClr val="hlink"/>
                </a:solidFill>
                <a:hlinkClick r:id="rId7"/>
              </a:rPr>
              <a:t>kartikgautam4004@gmail.com</a:t>
            </a:r>
            <a:endParaRPr sz="1600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lang="en-US" sz="1600">
                <a:solidFill>
                  <a:srgbClr val="447BC4"/>
                </a:solidFill>
              </a:rPr>
              <a:t>B.Tech in E&amp;I 3rd Year, NIrma University</a:t>
            </a:r>
            <a:endParaRPr sz="1600">
              <a:solidFill>
                <a:srgbClr val="447BC4"/>
              </a:solidFill>
            </a:endParaRPr>
          </a:p>
          <a:p>
            <a:pPr indent="-101600" lvl="0" marL="793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600"/>
              <a:buChar char="•"/>
            </a:pPr>
            <a:r>
              <a:rPr lang="en-US" sz="1600">
                <a:solidFill>
                  <a:srgbClr val="447BC4"/>
                </a:solidFill>
              </a:rPr>
              <a:t> </a:t>
            </a:r>
            <a:r>
              <a:rPr i="0" lang="en-US" sz="1600" u="none">
                <a:solidFill>
                  <a:srgbClr val="447BC4"/>
                </a:solidFill>
              </a:rPr>
              <a:t>Expertise:  MAX30102 PPG, MPU6050 IMU wiring, BLE 5.3 stack, Raspberry Pi gateway, telemetry stack</a:t>
            </a:r>
            <a:endParaRPr sz="16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291;p4" id="486" name="Google Shape;486;p61"/>
          <p:cNvSpPr txBox="1"/>
          <p:nvPr>
            <p:ph type="title"/>
          </p:nvPr>
        </p:nvSpPr>
        <p:spPr>
          <a:xfrm>
            <a:off x="156037" y="148438"/>
            <a:ext cx="105156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/>
          </a:p>
        </p:txBody>
      </p:sp>
      <p:sp>
        <p:nvSpPr>
          <p:cNvPr descr="Google Shape;292;p4" id="487" name="Google Shape;487;p61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293;p4" id="488" name="Google Shape;488;p61"/>
          <p:cNvSpPr txBox="1"/>
          <p:nvPr/>
        </p:nvSpPr>
        <p:spPr>
          <a:xfrm>
            <a:off x="156025" y="1018350"/>
            <a:ext cx="7011900" cy="6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50" u="sng">
                <a:solidFill>
                  <a:srgbClr val="151657"/>
                </a:solidFill>
                <a:latin typeface="Roboto Serif"/>
                <a:ea typeface="Roboto Serif"/>
                <a:cs typeface="Roboto Serif"/>
                <a:sym typeface="Roboto Serif"/>
              </a:rPr>
              <a:t>PROBLEM  STATEMENT</a:t>
            </a:r>
            <a:endParaRPr b="1" i="1" sz="1850" u="sng">
              <a:solidFill>
                <a:srgbClr val="151657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1" lang="en-US" sz="1700">
                <a:solidFill>
                  <a:srgbClr val="A40916"/>
                </a:solidFill>
                <a:latin typeface="Comic Sans MS"/>
                <a:ea typeface="Comic Sans MS"/>
                <a:cs typeface="Comic Sans MS"/>
                <a:sym typeface="Comic Sans MS"/>
              </a:rPr>
              <a:t>"Current wearables fail exactly when patients need them most."</a:t>
            </a:r>
            <a:endParaRPr i="1" sz="1700">
              <a:solidFill>
                <a:srgbClr val="A4091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665B7"/>
                </a:solidFill>
              </a:rPr>
              <a:t>▸  ECG &amp; PPG signals degrade up to 60% during motion - accurate diagnosis becomes impossible.</a:t>
            </a:r>
            <a:endParaRPr sz="17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665B7"/>
                </a:solidFill>
              </a:rPr>
              <a:t>▸  ~80% of remote cardiac alerts are false positives </a:t>
            </a:r>
            <a:endParaRPr sz="17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3665B7"/>
                </a:solidFill>
              </a:rPr>
              <a:t>▸  Smartwatches offer 1–5 day battery life &amp; </a:t>
            </a:r>
            <a:r>
              <a:rPr lang="en-US" sz="1700">
                <a:solidFill>
                  <a:srgbClr val="3665B7"/>
                </a:solidFill>
              </a:rPr>
              <a:t>No clinical-grade reliability </a:t>
            </a:r>
            <a:endParaRPr sz="17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3665B7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1" lang="en-US" sz="1750" u="sng">
                <a:solidFill>
                  <a:srgbClr val="151657"/>
                </a:solidFill>
                <a:latin typeface="Roboto Serif"/>
                <a:ea typeface="Roboto Serif"/>
                <a:cs typeface="Roboto Serif"/>
                <a:sym typeface="Roboto Serif"/>
              </a:rPr>
              <a:t>TARANG  SOLUTION</a:t>
            </a:r>
            <a:endParaRPr b="1" i="1" sz="1750" u="sng">
              <a:solidFill>
                <a:srgbClr val="151657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135A28"/>
                </a:solidFill>
                <a:latin typeface="Comic Sans MS"/>
                <a:ea typeface="Comic Sans MS"/>
                <a:cs typeface="Comic Sans MS"/>
                <a:sym typeface="Comic Sans MS"/>
              </a:rPr>
              <a:t>"</a:t>
            </a:r>
            <a:r>
              <a:rPr i="1" lang="en-US" sz="1700">
                <a:solidFill>
                  <a:srgbClr val="135A28"/>
                </a:solidFill>
                <a:latin typeface="Comic Sans MS"/>
                <a:ea typeface="Comic Sans MS"/>
                <a:cs typeface="Comic Sans MS"/>
                <a:sym typeface="Comic Sans MS"/>
              </a:rPr>
              <a:t>AI at the edge. Not after the cloud."</a:t>
            </a:r>
            <a:endParaRPr i="1" sz="1700">
              <a:solidFill>
                <a:srgbClr val="135A28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665B7"/>
                </a:solidFill>
              </a:rPr>
              <a:t>✔ </a:t>
            </a:r>
            <a:r>
              <a:rPr b="1" lang="en-US" sz="1600">
                <a:solidFill>
                  <a:srgbClr val="3665B7"/>
                </a:solidFill>
              </a:rPr>
              <a:t>Real-Time Motion Artifact Cancellation</a:t>
            </a:r>
            <a:r>
              <a:rPr lang="en-US" sz="1600">
                <a:solidFill>
                  <a:srgbClr val="3665B7"/>
                </a:solidFill>
              </a:rPr>
              <a:t> </a:t>
            </a:r>
            <a:endParaRPr sz="16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665B7"/>
                </a:solidFill>
              </a:rPr>
              <a:t> IMU-guided NLMS filtering cleans ECG signals before AI analysis. </a:t>
            </a:r>
            <a:endParaRPr sz="16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665B7"/>
                </a:solidFill>
              </a:rPr>
              <a:t>✔</a:t>
            </a:r>
            <a:r>
              <a:rPr b="1" lang="en-US" sz="1600">
                <a:solidFill>
                  <a:srgbClr val="3665B7"/>
                </a:solidFill>
              </a:rPr>
              <a:t>Event-gated 4-tier AI cascade</a:t>
            </a:r>
            <a:r>
              <a:rPr lang="en-US" sz="1600">
                <a:solidFill>
                  <a:srgbClr val="3665B7"/>
                </a:solidFill>
              </a:rPr>
              <a:t> -</a:t>
            </a:r>
            <a:endParaRPr sz="16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665B7"/>
                </a:solidFill>
              </a:rPr>
              <a:t>Tier 0 heuristic gate passes &gt;99% of normal beats without invoking any neural model   </a:t>
            </a:r>
            <a:endParaRPr sz="16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665B7"/>
                </a:solidFill>
              </a:rPr>
              <a:t>✔ </a:t>
            </a:r>
            <a:r>
              <a:rPr b="1" lang="en-US" sz="1600">
                <a:solidFill>
                  <a:srgbClr val="3665B7"/>
                </a:solidFill>
              </a:rPr>
              <a:t>Zero-CPU hardware chain</a:t>
            </a:r>
            <a:r>
              <a:rPr lang="en-US" sz="1600">
                <a:solidFill>
                  <a:srgbClr val="3665B7"/>
                </a:solidFill>
              </a:rPr>
              <a:t> </a:t>
            </a:r>
            <a:endParaRPr sz="1600">
              <a:solidFill>
                <a:srgbClr val="3665B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Hardware-driven acquisition (LETIMER → PRS → LDMA) enables ultra-low-power continuous monitoring.  </a:t>
            </a:r>
            <a:r>
              <a:rPr lang="en-US">
                <a:solidFill>
                  <a:srgbClr val="3665B7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</a:t>
            </a:r>
            <a:r>
              <a:rPr lang="en-US">
                <a:solidFill>
                  <a:srgbClr val="3665B7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</a:t>
            </a:r>
            <a:endParaRPr sz="1900">
              <a:solidFill>
                <a:srgbClr val="3665B7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665B7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rgbClr val="3665B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34EA2"/>
              </a:buClr>
              <a:buSzPts val="1400"/>
              <a:buFont typeface="Arial"/>
              <a:buNone/>
            </a:pPr>
            <a:r>
              <a:t/>
            </a:r>
            <a:endParaRPr b="0" i="0" sz="1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5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Google Shape;294;p4" id="489" name="Google Shape;48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61"/>
          <p:cNvSpPr/>
          <p:nvPr/>
        </p:nvSpPr>
        <p:spPr>
          <a:xfrm>
            <a:off x="10383625" y="6327925"/>
            <a:ext cx="1173300" cy="16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61"/>
          <p:cNvSpPr/>
          <p:nvPr/>
        </p:nvSpPr>
        <p:spPr>
          <a:xfrm>
            <a:off x="9734825" y="6300300"/>
            <a:ext cx="1306200" cy="26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61"/>
          <p:cNvSpPr/>
          <p:nvPr/>
        </p:nvSpPr>
        <p:spPr>
          <a:xfrm>
            <a:off x="4512075" y="7085675"/>
            <a:ext cx="638100" cy="268200"/>
          </a:xfrm>
          <a:prstGeom prst="rect">
            <a:avLst/>
          </a:prstGeom>
          <a:solidFill>
            <a:srgbClr val="F0F4FF"/>
          </a:solidFill>
          <a:ln cap="flat" cmpd="sng" w="9525">
            <a:solidFill>
              <a:srgbClr val="F0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61"/>
          <p:cNvSpPr/>
          <p:nvPr/>
        </p:nvSpPr>
        <p:spPr>
          <a:xfrm>
            <a:off x="10775625" y="6918900"/>
            <a:ext cx="1609500" cy="377100"/>
          </a:xfrm>
          <a:prstGeom prst="rect">
            <a:avLst/>
          </a:prstGeom>
          <a:solidFill>
            <a:srgbClr val="F0F4FF"/>
          </a:solidFill>
          <a:ln cap="flat" cmpd="sng" w="9525">
            <a:solidFill>
              <a:srgbClr val="F0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8975" y="495875"/>
            <a:ext cx="58197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00;p5" id="499" name="Google Shape;499;p62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Diagram</a:t>
            </a:r>
            <a:endParaRPr/>
          </a:p>
        </p:txBody>
      </p:sp>
      <p:sp>
        <p:nvSpPr>
          <p:cNvPr descr="Google Shape;301;p5" id="500" name="Google Shape;500;p62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pic>
        <p:nvPicPr>
          <p:cNvPr descr="Google Shape;303;p5" id="501" name="Google Shape;50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62"/>
          <p:cNvSpPr txBox="1"/>
          <p:nvPr/>
        </p:nvSpPr>
        <p:spPr>
          <a:xfrm>
            <a:off x="8245208" y="1019072"/>
            <a:ext cx="3520500" cy="36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rgbClr val="3665B7"/>
                </a:solidFill>
                <a:latin typeface="Trebuchet MS"/>
                <a:ea typeface="Trebuchet MS"/>
                <a:cs typeface="Trebuchet MS"/>
                <a:sym typeface="Trebuchet MS"/>
              </a:rPr>
              <a:t>Key Specs </a:t>
            </a:r>
            <a:endParaRPr b="1" sz="1650" u="sng">
              <a:solidFill>
                <a:srgbClr val="3665B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EFR32MG26 SoC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Multi-Sensor Fusion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Hardware MVP AI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Edge NLMS Filtering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1D-CNN Arrhythmia Detection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Secure Vault High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BLE 5.3 Event Telemetry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30+ Day Battery (EM2)</a:t>
            </a:r>
            <a:endParaRPr sz="1600">
              <a:solidFill>
                <a:srgbClr val="3665B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65B7"/>
              </a:buClr>
              <a:buSzPts val="1600"/>
              <a:buAutoNum type="arabicPeriod"/>
            </a:pPr>
            <a:r>
              <a:rPr lang="en-US" sz="1600">
                <a:solidFill>
                  <a:srgbClr val="3665B7"/>
                </a:solidFill>
              </a:rPr>
              <a:t>PRS/LDMA Zero-CPU</a:t>
            </a:r>
            <a:endParaRPr sz="1600">
              <a:solidFill>
                <a:srgbClr val="3665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900"/>
              <a:buFont typeface="Arial"/>
              <a:buNone/>
            </a:pPr>
            <a:r>
              <a:t/>
            </a:r>
            <a:endParaRPr sz="17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03" name="Google Shape;503;p62"/>
          <p:cNvSpPr/>
          <p:nvPr/>
        </p:nvSpPr>
        <p:spPr>
          <a:xfrm>
            <a:off x="7230900" y="3863075"/>
            <a:ext cx="4813200" cy="2790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86514"/>
                </a:solidFill>
              </a:rPr>
              <a:t>★  WIRELESS: BLE 5.3  | event-driven, low 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86514"/>
                </a:solidFill>
              </a:rPr>
              <a:t>      power.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86514"/>
                </a:solidFill>
              </a:rPr>
              <a:t> 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86514"/>
                </a:solidFill>
              </a:rPr>
              <a:t>★  EDGE AI: MVP hardware</a:t>
            </a:r>
            <a:r>
              <a:rPr b="1" lang="en-US" sz="1700">
                <a:solidFill>
                  <a:srgbClr val="E86514"/>
                </a:solidFill>
              </a:rPr>
              <a:t> </a:t>
            </a:r>
            <a:r>
              <a:rPr b="1" lang="en-US" sz="1700">
                <a:solidFill>
                  <a:srgbClr val="E86514"/>
                </a:solidFill>
              </a:rPr>
              <a:t>accelerator</a:t>
            </a:r>
            <a:r>
              <a:rPr b="1" lang="en-US" sz="1700">
                <a:solidFill>
                  <a:srgbClr val="E86514"/>
                </a:solidFill>
              </a:rPr>
              <a:t>  </a:t>
            </a:r>
            <a:r>
              <a:rPr b="1" lang="en-US" sz="1700">
                <a:solidFill>
                  <a:srgbClr val="E86514"/>
                </a:solidFill>
              </a:rPr>
              <a:t>|  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E86514"/>
                </a:solidFill>
              </a:rPr>
              <a:t>     no cloud real-time     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900"/>
              <a:buFont typeface="Arial"/>
              <a:buNone/>
            </a:pPr>
            <a:r>
              <a:rPr b="1" lang="en-US" sz="1700">
                <a:solidFill>
                  <a:srgbClr val="E86514"/>
                </a:solidFill>
              </a:rPr>
              <a:t>★  ZERO-CPU: PRS + LDMA </a:t>
            </a:r>
            <a:endParaRPr b="1" sz="1700">
              <a:solidFill>
                <a:srgbClr val="E8651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6514"/>
              </a:buClr>
              <a:buSzPts val="900"/>
              <a:buFont typeface="Arial"/>
              <a:buNone/>
            </a:pPr>
            <a:r>
              <a:rPr b="1" lang="en-US" sz="1700">
                <a:solidFill>
                  <a:srgbClr val="E86514"/>
                </a:solidFill>
              </a:rPr>
              <a:t>     autonomous  pipeline | &gt;99% EM2 sleep</a:t>
            </a:r>
            <a:endParaRPr/>
          </a:p>
        </p:txBody>
      </p:sp>
      <p:pic>
        <p:nvPicPr>
          <p:cNvPr id="504" name="Google Shape;50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75" y="833249"/>
            <a:ext cx="7515649" cy="60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09;p6" id="509" name="Google Shape;509;p63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Resource Allocation</a:t>
            </a:r>
            <a:endParaRPr/>
          </a:p>
        </p:txBody>
      </p:sp>
      <p:sp>
        <p:nvSpPr>
          <p:cNvPr descr="Google Shape;310;p6" id="510" name="Google Shape;510;p63"/>
          <p:cNvSpPr txBox="1"/>
          <p:nvPr/>
        </p:nvSpPr>
        <p:spPr>
          <a:xfrm>
            <a:off x="11718925" y="6445325"/>
            <a:ext cx="18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311;p6" id="511" name="Google Shape;511;p63"/>
          <p:cNvSpPr txBox="1"/>
          <p:nvPr/>
        </p:nvSpPr>
        <p:spPr>
          <a:xfrm>
            <a:off x="407912" y="1105735"/>
            <a:ext cx="113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700"/>
              <a:buFont typeface="Arial"/>
              <a:buNone/>
            </a:pPr>
            <a:r>
              <a:rPr i="1" lang="en-US" sz="20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HUMAN RESOURCES: Assigned roles based on experience and expertise</a:t>
            </a:r>
            <a:endParaRPr i="1" sz="17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Google Shape;312;p6" id="512" name="Google Shape;51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ctangle 312" id="513" name="Google Shape;513;p63"/>
          <p:cNvSpPr txBox="1"/>
          <p:nvPr/>
        </p:nvSpPr>
        <p:spPr>
          <a:xfrm>
            <a:off x="392100" y="1658192"/>
            <a:ext cx="11430000" cy="58500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13" id="514" name="Google Shape;514;p63"/>
          <p:cNvSpPr txBox="1"/>
          <p:nvPr/>
        </p:nvSpPr>
        <p:spPr>
          <a:xfrm>
            <a:off x="423030" y="1600772"/>
            <a:ext cx="440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00"/>
              <a:buFont typeface="Arial"/>
              <a:buNone/>
            </a:pPr>
            <a:r>
              <a:rPr b="1" i="0" lang="en-US" sz="16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Kedar Nayak </a:t>
            </a:r>
            <a:r>
              <a:rPr b="1" lang="en-US" sz="1600">
                <a:solidFill>
                  <a:srgbClr val="1B236A"/>
                </a:solidFill>
              </a:rPr>
              <a:t>- </a:t>
            </a:r>
            <a:r>
              <a:rPr b="1" i="0" lang="en-US" sz="16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Firmware / System Architect</a:t>
            </a:r>
            <a:endParaRPr sz="1700"/>
          </a:p>
        </p:txBody>
      </p:sp>
      <p:sp>
        <p:nvSpPr>
          <p:cNvPr descr="TextBox 314" id="515" name="Google Shape;515;p63"/>
          <p:cNvSpPr txBox="1"/>
          <p:nvPr/>
        </p:nvSpPr>
        <p:spPr>
          <a:xfrm>
            <a:off x="4753882" y="1634236"/>
            <a:ext cx="70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00"/>
              <a:buFont typeface="Arial"/>
              <a:buNone/>
            </a:pPr>
            <a:r>
              <a:rPr b="0" i="0" lang="en-US" sz="16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PRS + LDMA zero-CPU pipeline, EM2 power optimization, power efficiency architecture, interrupt-driven firmware design</a:t>
            </a:r>
            <a:endParaRPr sz="1700"/>
          </a:p>
        </p:txBody>
      </p:sp>
      <p:sp>
        <p:nvSpPr>
          <p:cNvPr descr="Rectangle 315" id="516" name="Google Shape;516;p63"/>
          <p:cNvSpPr txBox="1"/>
          <p:nvPr/>
        </p:nvSpPr>
        <p:spPr>
          <a:xfrm>
            <a:off x="392112" y="2376748"/>
            <a:ext cx="11430000" cy="50310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16" id="517" name="Google Shape;517;p63"/>
          <p:cNvSpPr txBox="1"/>
          <p:nvPr/>
        </p:nvSpPr>
        <p:spPr>
          <a:xfrm>
            <a:off x="469056" y="2315652"/>
            <a:ext cx="4022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00"/>
              <a:buFont typeface="Arial"/>
              <a:buNone/>
            </a:pPr>
            <a:r>
              <a:rPr b="1" lang="en-US" sz="1600">
                <a:solidFill>
                  <a:srgbClr val="1B236A"/>
                </a:solidFill>
              </a:rPr>
              <a:t>MohammadMehdi Namdar</a:t>
            </a: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500">
                <a:solidFill>
                  <a:srgbClr val="1B236A"/>
                </a:solidFill>
              </a:rPr>
              <a:t>- </a:t>
            </a: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 AI / ML · Signal Processing</a:t>
            </a:r>
            <a:endParaRPr sz="1600"/>
          </a:p>
        </p:txBody>
      </p:sp>
      <p:sp>
        <p:nvSpPr>
          <p:cNvPr descr="TextBox 317" id="518" name="Google Shape;518;p63"/>
          <p:cNvSpPr txBox="1"/>
          <p:nvPr/>
        </p:nvSpPr>
        <p:spPr>
          <a:xfrm>
            <a:off x="4738763" y="2352164"/>
            <a:ext cx="70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00"/>
              <a:buFont typeface="Arial"/>
              <a:buNone/>
            </a:pPr>
            <a:r>
              <a:rPr b="0" i="0" lang="en-US" sz="16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NLMS filter design, 1D-CNN model training &amp; Int8 quantization, TFLite Micro deployment</a:t>
            </a:r>
            <a:endParaRPr sz="1700"/>
          </a:p>
        </p:txBody>
      </p:sp>
      <p:sp>
        <p:nvSpPr>
          <p:cNvPr descr="Rectangle 318" id="519" name="Google Shape;519;p63"/>
          <p:cNvSpPr txBox="1"/>
          <p:nvPr/>
        </p:nvSpPr>
        <p:spPr>
          <a:xfrm>
            <a:off x="392112" y="3004580"/>
            <a:ext cx="11430000" cy="50310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19" id="520" name="Google Shape;520;p63"/>
          <p:cNvSpPr txBox="1"/>
          <p:nvPr/>
        </p:nvSpPr>
        <p:spPr>
          <a:xfrm>
            <a:off x="438149" y="2995445"/>
            <a:ext cx="440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00"/>
              <a:buFont typeface="Arial"/>
              <a:buNone/>
            </a:pP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Kartik Gautam </a:t>
            </a:r>
            <a:r>
              <a:rPr b="1" lang="en-US" sz="1500">
                <a:solidFill>
                  <a:srgbClr val="1B236A"/>
                </a:solidFill>
              </a:rPr>
              <a:t>- </a:t>
            </a: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 Hardware Integration · BLE · Sensor Fusion</a:t>
            </a:r>
            <a:endParaRPr sz="1600"/>
          </a:p>
        </p:txBody>
      </p:sp>
      <p:sp>
        <p:nvSpPr>
          <p:cNvPr descr="TextBox 320" id="521" name="Google Shape;521;p63"/>
          <p:cNvSpPr txBox="1"/>
          <p:nvPr/>
        </p:nvSpPr>
        <p:spPr>
          <a:xfrm>
            <a:off x="4738763" y="2949450"/>
            <a:ext cx="704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00"/>
              <a:buFont typeface="Arial"/>
              <a:buNone/>
            </a:pPr>
            <a:r>
              <a:rPr b="0" i="0" lang="en-US" sz="15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AD8422 AFE + RLD circuit, MAX30102 PPG + MPU6050 IMU wiring, BLE 5.3 stack integration</a:t>
            </a:r>
            <a:endParaRPr sz="1700"/>
          </a:p>
        </p:txBody>
      </p:sp>
      <p:sp>
        <p:nvSpPr>
          <p:cNvPr descr="Rectangle 321" id="522" name="Google Shape;522;p63"/>
          <p:cNvSpPr txBox="1"/>
          <p:nvPr/>
        </p:nvSpPr>
        <p:spPr>
          <a:xfrm>
            <a:off x="392112" y="3662962"/>
            <a:ext cx="11430000" cy="50310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2" id="523" name="Google Shape;523;p63"/>
          <p:cNvSpPr txBox="1"/>
          <p:nvPr/>
        </p:nvSpPr>
        <p:spPr>
          <a:xfrm>
            <a:off x="484187" y="3637928"/>
            <a:ext cx="4022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00"/>
              <a:buFont typeface="Arial"/>
              <a:buNone/>
            </a:pP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Pal Patel </a:t>
            </a:r>
            <a:r>
              <a:rPr b="1" lang="en-US" sz="1500">
                <a:solidFill>
                  <a:srgbClr val="1B236A"/>
                </a:solidFill>
              </a:rPr>
              <a:t>-</a:t>
            </a:r>
            <a:r>
              <a:rPr b="1" i="0" lang="en-US" sz="1500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  Hardware Design · Dashboard · Optimization</a:t>
            </a:r>
            <a:endParaRPr sz="1600"/>
          </a:p>
        </p:txBody>
      </p:sp>
      <p:sp>
        <p:nvSpPr>
          <p:cNvPr descr="TextBox 323" id="524" name="Google Shape;524;p63"/>
          <p:cNvSpPr txBox="1"/>
          <p:nvPr/>
        </p:nvSpPr>
        <p:spPr>
          <a:xfrm>
            <a:off x="4738763" y="3607832"/>
            <a:ext cx="704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00"/>
              <a:buFont typeface="Arial"/>
              <a:buNone/>
            </a:pPr>
            <a:r>
              <a:rPr lang="en-US" sz="1500">
                <a:solidFill>
                  <a:srgbClr val="447BC4"/>
                </a:solidFill>
              </a:rPr>
              <a:t>PCB integration, </a:t>
            </a:r>
            <a:r>
              <a:rPr b="0" i="0" lang="en-US" sz="16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Clinical UI dashboard design, anomaly event logging, </a:t>
            </a:r>
            <a:endParaRPr b="0" i="0" sz="1600" u="none">
              <a:solidFill>
                <a:srgbClr val="447BC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00"/>
              <a:buFont typeface="Arial"/>
              <a:buNone/>
            </a:pPr>
            <a:r>
              <a:rPr b="0" i="0" lang="en-US" sz="16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telemetry visualization, system-level performance optimization</a:t>
            </a:r>
            <a:endParaRPr sz="1700"/>
          </a:p>
        </p:txBody>
      </p:sp>
      <p:sp>
        <p:nvSpPr>
          <p:cNvPr descr="TextBox 324" id="525" name="Google Shape;525;p63"/>
          <p:cNvSpPr txBox="1"/>
          <p:nvPr/>
        </p:nvSpPr>
        <p:spPr>
          <a:xfrm>
            <a:off x="392793" y="4321774"/>
            <a:ext cx="113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rPr i="1" lang="en-US" sz="20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EQUIPMENT AND TOOLS</a:t>
            </a:r>
            <a:endParaRPr i="1" sz="16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descr="Rectangle 325" id="526" name="Google Shape;526;p63"/>
          <p:cNvSpPr txBox="1"/>
          <p:nvPr/>
        </p:nvSpPr>
        <p:spPr>
          <a:xfrm>
            <a:off x="346743" y="4894750"/>
            <a:ext cx="37035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6" id="527" name="Google Shape;527;p63"/>
          <p:cNvSpPr txBox="1"/>
          <p:nvPr/>
        </p:nvSpPr>
        <p:spPr>
          <a:xfrm>
            <a:off x="392705" y="4877708"/>
            <a:ext cx="35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EFR32xG26 Dev</a:t>
            </a:r>
            <a:r>
              <a:rPr b="1" lang="en-US">
                <a:solidFill>
                  <a:srgbClr val="1B236A"/>
                </a:solidFill>
              </a:rPr>
              <a:t> </a:t>
            </a: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and Explorer Kit</a:t>
            </a:r>
            <a:endParaRPr sz="1600"/>
          </a:p>
        </p:txBody>
      </p:sp>
      <p:sp>
        <p:nvSpPr>
          <p:cNvPr descr="TextBox 327" id="528" name="Google Shape;528;p63"/>
          <p:cNvSpPr txBox="1"/>
          <p:nvPr/>
        </p:nvSpPr>
        <p:spPr>
          <a:xfrm>
            <a:off x="392705" y="5128991"/>
            <a:ext cx="356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Assigned: </a:t>
            </a:r>
            <a:r>
              <a:rPr lang="en-US" sz="1300">
                <a:solidFill>
                  <a:srgbClr val="447BC4"/>
                </a:solidFill>
              </a:rPr>
              <a:t>P</a:t>
            </a: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rimary M</a:t>
            </a:r>
            <a:r>
              <a:rPr lang="en-US" sz="1300">
                <a:solidFill>
                  <a:srgbClr val="447BC4"/>
                </a:solidFill>
              </a:rPr>
              <a:t>VP</a:t>
            </a: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300">
                <a:solidFill>
                  <a:srgbClr val="447BC4"/>
                </a:solidFill>
              </a:rPr>
              <a:t>MCU</a:t>
            </a: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 platform</a:t>
            </a:r>
            <a:endParaRPr sz="1600"/>
          </a:p>
        </p:txBody>
      </p:sp>
      <p:sp>
        <p:nvSpPr>
          <p:cNvPr descr="Rectangle 328" id="529" name="Google Shape;529;p63"/>
          <p:cNvSpPr txBox="1"/>
          <p:nvPr/>
        </p:nvSpPr>
        <p:spPr>
          <a:xfrm>
            <a:off x="4186918" y="4894750"/>
            <a:ext cx="37035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31" id="530" name="Google Shape;530;p63"/>
          <p:cNvSpPr txBox="1"/>
          <p:nvPr/>
        </p:nvSpPr>
        <p:spPr>
          <a:xfrm>
            <a:off x="8027093" y="4887050"/>
            <a:ext cx="37020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2" id="531" name="Google Shape;531;p63"/>
          <p:cNvSpPr txBox="1"/>
          <p:nvPr/>
        </p:nvSpPr>
        <p:spPr>
          <a:xfrm>
            <a:off x="4209942" y="4875765"/>
            <a:ext cx="356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Raspberry Pi 4</a:t>
            </a:r>
            <a:endParaRPr sz="1600"/>
          </a:p>
        </p:txBody>
      </p:sp>
      <p:sp>
        <p:nvSpPr>
          <p:cNvPr descr="TextBox 333" id="532" name="Google Shape;532;p63"/>
          <p:cNvSpPr txBox="1"/>
          <p:nvPr/>
        </p:nvSpPr>
        <p:spPr>
          <a:xfrm>
            <a:off x="4222894" y="5102411"/>
            <a:ext cx="356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Assigned: gateway + dashboard</a:t>
            </a:r>
            <a:endParaRPr sz="1600"/>
          </a:p>
        </p:txBody>
      </p:sp>
      <p:sp>
        <p:nvSpPr>
          <p:cNvPr descr="Rectangle 334" id="533" name="Google Shape;533;p63"/>
          <p:cNvSpPr txBox="1"/>
          <p:nvPr/>
        </p:nvSpPr>
        <p:spPr>
          <a:xfrm>
            <a:off x="345143" y="5599719"/>
            <a:ext cx="37035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37" id="534" name="Google Shape;534;p63"/>
          <p:cNvSpPr txBox="1"/>
          <p:nvPr/>
        </p:nvSpPr>
        <p:spPr>
          <a:xfrm>
            <a:off x="4186918" y="5599736"/>
            <a:ext cx="37035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8" id="535" name="Google Shape;535;p63"/>
          <p:cNvSpPr txBox="1"/>
          <p:nvPr/>
        </p:nvSpPr>
        <p:spPr>
          <a:xfrm>
            <a:off x="4278993" y="5590881"/>
            <a:ext cx="356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MPU6050 IMU</a:t>
            </a:r>
            <a:endParaRPr sz="1600"/>
          </a:p>
        </p:txBody>
      </p:sp>
      <p:sp>
        <p:nvSpPr>
          <p:cNvPr descr="TextBox 339" id="536" name="Google Shape;536;p63"/>
          <p:cNvSpPr txBox="1"/>
          <p:nvPr/>
        </p:nvSpPr>
        <p:spPr>
          <a:xfrm>
            <a:off x="4278993" y="5834228"/>
            <a:ext cx="3565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Procured: 6-DOF motion artifact reference</a:t>
            </a:r>
            <a:endParaRPr sz="1600"/>
          </a:p>
        </p:txBody>
      </p:sp>
      <p:sp>
        <p:nvSpPr>
          <p:cNvPr descr="Rectangle 340" id="537" name="Google Shape;537;p63"/>
          <p:cNvSpPr txBox="1"/>
          <p:nvPr/>
        </p:nvSpPr>
        <p:spPr>
          <a:xfrm>
            <a:off x="8036101" y="5629138"/>
            <a:ext cx="3702000" cy="5850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1" id="538" name="Google Shape;538;p63"/>
          <p:cNvSpPr txBox="1"/>
          <p:nvPr/>
        </p:nvSpPr>
        <p:spPr>
          <a:xfrm>
            <a:off x="391205" y="5584406"/>
            <a:ext cx="356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AD8</a:t>
            </a:r>
            <a:r>
              <a:rPr b="1" lang="en-US">
                <a:solidFill>
                  <a:srgbClr val="1B236A"/>
                </a:solidFill>
              </a:rPr>
              <a:t>23</a:t>
            </a:r>
            <a:r>
              <a:rPr b="1" i="0" lang="en-US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1" lang="en-US">
                <a:solidFill>
                  <a:srgbClr val="1B236A"/>
                </a:solidFill>
              </a:rPr>
              <a:t>(Inst Amp + RLD + Filters)</a:t>
            </a:r>
            <a:endParaRPr sz="1600"/>
          </a:p>
        </p:txBody>
      </p:sp>
      <p:sp>
        <p:nvSpPr>
          <p:cNvPr descr="TextBox 342" id="539" name="Google Shape;539;p63"/>
          <p:cNvSpPr txBox="1"/>
          <p:nvPr/>
        </p:nvSpPr>
        <p:spPr>
          <a:xfrm>
            <a:off x="345155" y="5828525"/>
            <a:ext cx="3567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447BC4"/>
                </a:solidFill>
              </a:rPr>
              <a:t> </a:t>
            </a:r>
            <a:r>
              <a:rPr b="0" i="0" lang="en-US" sz="130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Procured: ECG analog front-end circuit</a:t>
            </a:r>
            <a:endParaRPr sz="1600"/>
          </a:p>
        </p:txBody>
      </p:sp>
      <p:sp>
        <p:nvSpPr>
          <p:cNvPr id="540" name="Google Shape;540;p63"/>
          <p:cNvSpPr txBox="1"/>
          <p:nvPr/>
        </p:nvSpPr>
        <p:spPr>
          <a:xfrm>
            <a:off x="8028700" y="5538685"/>
            <a:ext cx="37020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B236A"/>
                </a:solidFill>
              </a:rPr>
              <a:t>MAX30102 PPG Sensor</a:t>
            </a:r>
            <a:endParaRPr b="1">
              <a:solidFill>
                <a:srgbClr val="1B236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447BC4"/>
                </a:solidFill>
              </a:rPr>
              <a:t>Procured: Optical SpO₂ + PPG sensing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t/>
            </a:r>
            <a:endParaRPr b="1">
              <a:solidFill>
                <a:srgbClr val="1B236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63"/>
          <p:cNvSpPr txBox="1"/>
          <p:nvPr/>
        </p:nvSpPr>
        <p:spPr>
          <a:xfrm>
            <a:off x="8027100" y="4837912"/>
            <a:ext cx="370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rPr b="1" lang="en-US">
                <a:solidFill>
                  <a:srgbClr val="1B236A"/>
                </a:solidFill>
              </a:rPr>
              <a:t>BGM220 Explorer Kit</a:t>
            </a:r>
            <a:endParaRPr b="1">
              <a:solidFill>
                <a:srgbClr val="1B236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447BC4"/>
                </a:solidFill>
              </a:rPr>
              <a:t>Assigned: BLE development &amp; testing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00"/>
              <a:buFont typeface="Arial"/>
              <a:buNone/>
            </a:pPr>
            <a:r>
              <a:t/>
            </a:r>
            <a:endParaRPr b="1">
              <a:solidFill>
                <a:srgbClr val="1B236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63"/>
          <p:cNvSpPr txBox="1"/>
          <p:nvPr/>
        </p:nvSpPr>
        <p:spPr>
          <a:xfrm>
            <a:off x="12440500" y="4543173"/>
            <a:ext cx="328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18;p7" id="547" name="Google Shape;547;p64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Milestones</a:t>
            </a:r>
            <a:endParaRPr/>
          </a:p>
        </p:txBody>
      </p:sp>
      <p:sp>
        <p:nvSpPr>
          <p:cNvPr descr="Google Shape;319;p7" id="548" name="Google Shape;548;p64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320;p7" id="549" name="Google Shape;549;p64"/>
          <p:cNvSpPr txBox="1"/>
          <p:nvPr/>
        </p:nvSpPr>
        <p:spPr>
          <a:xfrm>
            <a:off x="191206" y="1145897"/>
            <a:ext cx="113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700"/>
              <a:buFont typeface="Arial"/>
              <a:buNone/>
            </a:pPr>
            <a:r>
              <a:rPr i="1" lang="en-US" sz="18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GOALS AND TIMELINE</a:t>
            </a:r>
            <a:endParaRPr i="1" sz="15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Google Shape;321;p7" id="550" name="Google Shape;55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ctangle 321" id="551" name="Google Shape;551;p64"/>
          <p:cNvSpPr txBox="1"/>
          <p:nvPr/>
        </p:nvSpPr>
        <p:spPr>
          <a:xfrm>
            <a:off x="201612" y="1655384"/>
            <a:ext cx="11811000" cy="547800"/>
          </a:xfrm>
          <a:prstGeom prst="rect">
            <a:avLst/>
          </a:prstGeom>
          <a:solidFill>
            <a:srgbClr val="E8F0FF"/>
          </a:solidFill>
          <a:ln>
            <a:noFill/>
          </a:ln>
          <a:effectLst>
            <a:outerShdw blurRad="65617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2" id="552" name="Google Shape;552;p64"/>
          <p:cNvSpPr txBox="1"/>
          <p:nvPr/>
        </p:nvSpPr>
        <p:spPr>
          <a:xfrm>
            <a:off x="296756" y="1675069"/>
            <a:ext cx="11622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447"/>
              <a:buFont typeface="Arial"/>
              <a:buNone/>
            </a:pPr>
            <a:r>
              <a:rPr b="1" i="0" lang="en-US" sz="1447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Goal: Deliver a working prototype demonstrating </a:t>
            </a:r>
            <a:r>
              <a:rPr b="1" lang="en-US" sz="1447">
                <a:solidFill>
                  <a:srgbClr val="1B236A"/>
                </a:solidFill>
              </a:rPr>
              <a:t>event driven</a:t>
            </a:r>
            <a:r>
              <a:rPr b="1" i="0" lang="en-US" sz="1447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 ECG</a:t>
            </a:r>
            <a:r>
              <a:rPr b="1" lang="en-US" sz="1447">
                <a:solidFill>
                  <a:srgbClr val="1B236A"/>
                </a:solidFill>
              </a:rPr>
              <a:t> wave</a:t>
            </a:r>
            <a:r>
              <a:rPr b="1" i="0" lang="en-US" sz="1447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 and edge AI arrhythmia detection on EFR32MG26 hardware, live at the final presentation.</a:t>
            </a:r>
            <a:endParaRPr sz="1447"/>
          </a:p>
        </p:txBody>
      </p:sp>
      <p:sp>
        <p:nvSpPr>
          <p:cNvPr descr="Rectangle 323" id="553" name="Google Shape;553;p64"/>
          <p:cNvSpPr txBox="1"/>
          <p:nvPr/>
        </p:nvSpPr>
        <p:spPr>
          <a:xfrm>
            <a:off x="201600" y="2414675"/>
            <a:ext cx="11811000" cy="4413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4" id="554" name="Google Shape;554;p64"/>
          <p:cNvSpPr txBox="1"/>
          <p:nvPr/>
        </p:nvSpPr>
        <p:spPr>
          <a:xfrm>
            <a:off x="296756" y="2452408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sz="1547"/>
          </a:p>
        </p:txBody>
      </p:sp>
      <p:sp>
        <p:nvSpPr>
          <p:cNvPr descr="TextBox 325" id="555" name="Google Shape;555;p64"/>
          <p:cNvSpPr txBox="1"/>
          <p:nvPr/>
        </p:nvSpPr>
        <p:spPr>
          <a:xfrm>
            <a:off x="1874837" y="2452408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Architecture &amp; Sensor Selection</a:t>
            </a:r>
            <a:endParaRPr sz="1650"/>
          </a:p>
        </p:txBody>
      </p:sp>
      <p:sp>
        <p:nvSpPr>
          <p:cNvPr descr="Rectangle 326" id="556" name="Google Shape;556;p64"/>
          <p:cNvSpPr txBox="1"/>
          <p:nvPr/>
        </p:nvSpPr>
        <p:spPr>
          <a:xfrm>
            <a:off x="9783762" y="2530248"/>
            <a:ext cx="1828800" cy="2922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7" id="557" name="Google Shape;557;p64"/>
          <p:cNvSpPr txBox="1"/>
          <p:nvPr/>
        </p:nvSpPr>
        <p:spPr>
          <a:xfrm>
            <a:off x="9829800" y="2505825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500"/>
          </a:p>
        </p:txBody>
      </p:sp>
      <p:sp>
        <p:nvSpPr>
          <p:cNvPr descr="Rectangle 328" id="558" name="Google Shape;558;p64"/>
          <p:cNvSpPr txBox="1"/>
          <p:nvPr/>
        </p:nvSpPr>
        <p:spPr>
          <a:xfrm>
            <a:off x="201600" y="2954375"/>
            <a:ext cx="11811000" cy="3693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29" id="559" name="Google Shape;559;p64"/>
          <p:cNvSpPr txBox="1"/>
          <p:nvPr/>
        </p:nvSpPr>
        <p:spPr>
          <a:xfrm>
            <a:off x="296756" y="2967681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sz="1547"/>
          </a:p>
        </p:txBody>
      </p:sp>
      <p:sp>
        <p:nvSpPr>
          <p:cNvPr descr="TextBox 330" id="560" name="Google Shape;560;p64"/>
          <p:cNvSpPr txBox="1"/>
          <p:nvPr/>
        </p:nvSpPr>
        <p:spPr>
          <a:xfrm>
            <a:off x="1874837" y="2992104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Firmware + PRS/LDMA Zero-CPU Pipeline</a:t>
            </a:r>
            <a:endParaRPr sz="1650"/>
          </a:p>
        </p:txBody>
      </p:sp>
      <p:sp>
        <p:nvSpPr>
          <p:cNvPr descr="Rectangle 331" id="561" name="Google Shape;561;p64"/>
          <p:cNvSpPr txBox="1"/>
          <p:nvPr/>
        </p:nvSpPr>
        <p:spPr>
          <a:xfrm>
            <a:off x="9783762" y="2977678"/>
            <a:ext cx="1828800" cy="2937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2" id="562" name="Google Shape;562;p64"/>
          <p:cNvSpPr txBox="1"/>
          <p:nvPr/>
        </p:nvSpPr>
        <p:spPr>
          <a:xfrm>
            <a:off x="9829800" y="2965467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500"/>
          </a:p>
        </p:txBody>
      </p:sp>
      <p:sp>
        <p:nvSpPr>
          <p:cNvPr descr="Rectangle 333" id="563" name="Google Shape;563;p64"/>
          <p:cNvSpPr txBox="1"/>
          <p:nvPr/>
        </p:nvSpPr>
        <p:spPr>
          <a:xfrm>
            <a:off x="201600" y="3406944"/>
            <a:ext cx="11811000" cy="3693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4" id="564" name="Google Shape;564;p64"/>
          <p:cNvSpPr txBox="1"/>
          <p:nvPr/>
        </p:nvSpPr>
        <p:spPr>
          <a:xfrm>
            <a:off x="296756" y="3469103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sz="1547"/>
          </a:p>
        </p:txBody>
      </p:sp>
      <p:sp>
        <p:nvSpPr>
          <p:cNvPr descr="TextBox 335" id="565" name="Google Shape;565;p64"/>
          <p:cNvSpPr txBox="1"/>
          <p:nvPr/>
        </p:nvSpPr>
        <p:spPr>
          <a:xfrm>
            <a:off x="1874837" y="3456892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AI Model Training &amp; Int8 Quantization</a:t>
            </a:r>
            <a:endParaRPr sz="1650"/>
          </a:p>
        </p:txBody>
      </p:sp>
      <p:sp>
        <p:nvSpPr>
          <p:cNvPr descr="Rectangle 336" id="566" name="Google Shape;566;p64"/>
          <p:cNvSpPr txBox="1"/>
          <p:nvPr/>
        </p:nvSpPr>
        <p:spPr>
          <a:xfrm>
            <a:off x="9783762" y="3429723"/>
            <a:ext cx="1828800" cy="2922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7" id="567" name="Google Shape;567;p64"/>
          <p:cNvSpPr txBox="1"/>
          <p:nvPr/>
        </p:nvSpPr>
        <p:spPr>
          <a:xfrm>
            <a:off x="9840165" y="3434860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500"/>
          </a:p>
        </p:txBody>
      </p:sp>
      <p:sp>
        <p:nvSpPr>
          <p:cNvPr descr="Rectangle 338" id="568" name="Google Shape;568;p64"/>
          <p:cNvSpPr txBox="1"/>
          <p:nvPr/>
        </p:nvSpPr>
        <p:spPr>
          <a:xfrm>
            <a:off x="201600" y="3881202"/>
            <a:ext cx="11811000" cy="3693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9" id="569" name="Google Shape;569;p64"/>
          <p:cNvSpPr txBox="1"/>
          <p:nvPr/>
        </p:nvSpPr>
        <p:spPr>
          <a:xfrm>
            <a:off x="296756" y="3933891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sz="1547"/>
          </a:p>
        </p:txBody>
      </p:sp>
      <p:sp>
        <p:nvSpPr>
          <p:cNvPr descr="TextBox 340" id="570" name="Google Shape;570;p64"/>
          <p:cNvSpPr txBox="1"/>
          <p:nvPr/>
        </p:nvSpPr>
        <p:spPr>
          <a:xfrm>
            <a:off x="1874837" y="3933891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Hardware MVP + NLMS Filter Integration</a:t>
            </a:r>
            <a:endParaRPr sz="1650"/>
          </a:p>
        </p:txBody>
      </p:sp>
      <p:sp>
        <p:nvSpPr>
          <p:cNvPr descr="Rectangle 343" id="571" name="Google Shape;571;p64"/>
          <p:cNvSpPr txBox="1"/>
          <p:nvPr/>
        </p:nvSpPr>
        <p:spPr>
          <a:xfrm>
            <a:off x="185200" y="4376376"/>
            <a:ext cx="11811000" cy="3693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4" id="572" name="Google Shape;572;p64"/>
          <p:cNvSpPr txBox="1"/>
          <p:nvPr/>
        </p:nvSpPr>
        <p:spPr>
          <a:xfrm>
            <a:off x="296756" y="4360971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5</a:t>
            </a:r>
            <a:endParaRPr sz="1547"/>
          </a:p>
        </p:txBody>
      </p:sp>
      <p:sp>
        <p:nvSpPr>
          <p:cNvPr descr="TextBox 345" id="573" name="Google Shape;573;p64"/>
          <p:cNvSpPr txBox="1"/>
          <p:nvPr/>
        </p:nvSpPr>
        <p:spPr>
          <a:xfrm>
            <a:off x="1874837" y="4360971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lang="en-US" sz="1547">
                <a:solidFill>
                  <a:srgbClr val="447BC4"/>
                </a:solidFill>
              </a:rPr>
              <a:t>EM2 Deep Sleep Mode Validation</a:t>
            </a:r>
            <a:endParaRPr sz="1650"/>
          </a:p>
        </p:txBody>
      </p:sp>
      <p:sp>
        <p:nvSpPr>
          <p:cNvPr descr="Rectangle 348" id="574" name="Google Shape;574;p64"/>
          <p:cNvSpPr txBox="1"/>
          <p:nvPr/>
        </p:nvSpPr>
        <p:spPr>
          <a:xfrm>
            <a:off x="201600" y="4816900"/>
            <a:ext cx="11811000" cy="3693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9" id="575" name="Google Shape;575;p64"/>
          <p:cNvSpPr txBox="1"/>
          <p:nvPr/>
        </p:nvSpPr>
        <p:spPr>
          <a:xfrm>
            <a:off x="296756" y="4842904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6</a:t>
            </a:r>
            <a:endParaRPr sz="1547"/>
          </a:p>
        </p:txBody>
      </p:sp>
      <p:sp>
        <p:nvSpPr>
          <p:cNvPr descr="TextBox 350" id="576" name="Google Shape;576;p64"/>
          <p:cNvSpPr txBox="1"/>
          <p:nvPr/>
        </p:nvSpPr>
        <p:spPr>
          <a:xfrm>
            <a:off x="1874837" y="4799608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lang="en-US" sz="1547">
                <a:solidFill>
                  <a:srgbClr val="447BC4"/>
                </a:solidFill>
              </a:rPr>
              <a:t>Clinical Dashboard + BLE 5.3 Telemetry </a:t>
            </a:r>
            <a:endParaRPr sz="1650"/>
          </a:p>
        </p:txBody>
      </p:sp>
      <p:sp>
        <p:nvSpPr>
          <p:cNvPr descr="TextBox 352" id="577" name="Google Shape;577;p64"/>
          <p:cNvSpPr txBox="1"/>
          <p:nvPr/>
        </p:nvSpPr>
        <p:spPr>
          <a:xfrm>
            <a:off x="9842000" y="4844675"/>
            <a:ext cx="168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Upcoming</a:t>
            </a:r>
            <a:endParaRPr sz="1500"/>
          </a:p>
        </p:txBody>
      </p:sp>
      <p:sp>
        <p:nvSpPr>
          <p:cNvPr descr="TextBox 353" id="578" name="Google Shape;578;p64"/>
          <p:cNvSpPr txBox="1"/>
          <p:nvPr/>
        </p:nvSpPr>
        <p:spPr>
          <a:xfrm>
            <a:off x="232762" y="6194112"/>
            <a:ext cx="117159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Overall Progress: ~</a:t>
            </a:r>
            <a:r>
              <a:rPr b="1" lang="en-US" sz="1443">
                <a:solidFill>
                  <a:srgbClr val="1B236A"/>
                </a:solidFill>
              </a:rPr>
              <a:t>88</a:t>
            </a: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 sz="1547"/>
          </a:p>
        </p:txBody>
      </p:sp>
      <p:sp>
        <p:nvSpPr>
          <p:cNvPr descr="Rectangle 354" id="579" name="Google Shape;579;p64"/>
          <p:cNvSpPr txBox="1"/>
          <p:nvPr/>
        </p:nvSpPr>
        <p:spPr>
          <a:xfrm>
            <a:off x="201612" y="6498107"/>
            <a:ext cx="11811000" cy="208200"/>
          </a:xfrm>
          <a:prstGeom prst="rect">
            <a:avLst/>
          </a:prstGeom>
          <a:solidFill>
            <a:srgbClr val="DDEAFF"/>
          </a:solidFill>
          <a:ln>
            <a:noFill/>
          </a:ln>
          <a:effectLst>
            <a:outerShdw blurRad="65617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55" id="580" name="Google Shape;580;p64"/>
          <p:cNvSpPr txBox="1"/>
          <p:nvPr/>
        </p:nvSpPr>
        <p:spPr>
          <a:xfrm>
            <a:off x="199924" y="6498100"/>
            <a:ext cx="10515600" cy="2082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5617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47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48" id="581" name="Google Shape;581;p64"/>
          <p:cNvSpPr txBox="1"/>
          <p:nvPr/>
        </p:nvSpPr>
        <p:spPr>
          <a:xfrm>
            <a:off x="185200" y="5276850"/>
            <a:ext cx="11827500" cy="3693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t/>
            </a:r>
            <a:endParaRPr sz="1547"/>
          </a:p>
        </p:txBody>
      </p:sp>
      <p:sp>
        <p:nvSpPr>
          <p:cNvPr descr="TextBox 349" id="582" name="Google Shape;582;p64"/>
          <p:cNvSpPr txBox="1"/>
          <p:nvPr/>
        </p:nvSpPr>
        <p:spPr>
          <a:xfrm>
            <a:off x="296756" y="5338604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</a:t>
            </a:r>
            <a:r>
              <a:rPr b="1" lang="en-US" sz="1443">
                <a:solidFill>
                  <a:srgbClr val="1B236A"/>
                </a:solidFill>
              </a:rPr>
              <a:t>7</a:t>
            </a:r>
            <a:endParaRPr sz="1547"/>
          </a:p>
        </p:txBody>
      </p:sp>
      <p:sp>
        <p:nvSpPr>
          <p:cNvPr descr="TextBox 350" id="583" name="Google Shape;583;p64"/>
          <p:cNvSpPr txBox="1"/>
          <p:nvPr/>
        </p:nvSpPr>
        <p:spPr>
          <a:xfrm>
            <a:off x="1862700" y="5302898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lang="en-US" sz="1547">
                <a:solidFill>
                  <a:srgbClr val="447BC4"/>
                </a:solidFill>
              </a:rPr>
              <a:t>Encrypted Transport </a:t>
            </a:r>
            <a:endParaRPr sz="1650"/>
          </a:p>
        </p:txBody>
      </p:sp>
      <p:sp>
        <p:nvSpPr>
          <p:cNvPr descr="Rectangle 351" id="584" name="Google Shape;584;p64"/>
          <p:cNvSpPr txBox="1"/>
          <p:nvPr/>
        </p:nvSpPr>
        <p:spPr>
          <a:xfrm>
            <a:off x="9794137" y="5289265"/>
            <a:ext cx="1828800" cy="292200"/>
          </a:xfrm>
          <a:prstGeom prst="rect">
            <a:avLst/>
          </a:prstGeom>
          <a:solidFill>
            <a:srgbClr val="BF9000"/>
          </a:solidFill>
          <a:ln>
            <a:noFill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7" id="585" name="Google Shape;585;p64"/>
          <p:cNvSpPr txBox="1"/>
          <p:nvPr/>
        </p:nvSpPr>
        <p:spPr>
          <a:xfrm>
            <a:off x="9852550" y="5301428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</a:rPr>
              <a:t>In Progress</a:t>
            </a:r>
            <a:endParaRPr sz="1500"/>
          </a:p>
        </p:txBody>
      </p:sp>
      <p:sp>
        <p:nvSpPr>
          <p:cNvPr descr="Rectangle 348" id="586" name="Google Shape;586;p64"/>
          <p:cNvSpPr txBox="1"/>
          <p:nvPr/>
        </p:nvSpPr>
        <p:spPr>
          <a:xfrm>
            <a:off x="194150" y="5758163"/>
            <a:ext cx="11827500" cy="369300"/>
          </a:xfrm>
          <a:prstGeom prst="rect">
            <a:avLst/>
          </a:prstGeom>
          <a:solidFill>
            <a:srgbClr val="F5F8FF"/>
          </a:solidFill>
          <a:ln>
            <a:noFill/>
          </a:ln>
          <a:effectLst>
            <a:outerShdw blurRad="65617" dir="5400000" dist="23767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43"/>
              <a:buNone/>
            </a:pPr>
            <a:r>
              <a:t/>
            </a:r>
            <a:endParaRPr sz="1547"/>
          </a:p>
        </p:txBody>
      </p:sp>
      <p:sp>
        <p:nvSpPr>
          <p:cNvPr descr="TextBox 349" id="587" name="Google Shape;587;p64"/>
          <p:cNvSpPr txBox="1"/>
          <p:nvPr/>
        </p:nvSpPr>
        <p:spPr>
          <a:xfrm>
            <a:off x="296756" y="5789724"/>
            <a:ext cx="1417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43"/>
              <a:buFont typeface="Arial"/>
              <a:buNone/>
            </a:pPr>
            <a:r>
              <a:rPr b="1" i="0" lang="en-US" sz="144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Phase </a:t>
            </a:r>
            <a:r>
              <a:rPr b="1" lang="en-US" sz="1443">
                <a:solidFill>
                  <a:srgbClr val="1B236A"/>
                </a:solidFill>
              </a:rPr>
              <a:t>8</a:t>
            </a:r>
            <a:endParaRPr sz="1547"/>
          </a:p>
        </p:txBody>
      </p:sp>
      <p:sp>
        <p:nvSpPr>
          <p:cNvPr descr="TextBox 350" id="588" name="Google Shape;588;p64"/>
          <p:cNvSpPr txBox="1"/>
          <p:nvPr/>
        </p:nvSpPr>
        <p:spPr>
          <a:xfrm>
            <a:off x="1862712" y="5814383"/>
            <a:ext cx="78411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343"/>
              <a:buFont typeface="Arial"/>
              <a:buNone/>
            </a:pPr>
            <a:r>
              <a:rPr b="0" i="0" lang="en-US" sz="15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Reliability Validation &amp; Final Product Refinement  </a:t>
            </a:r>
            <a:endParaRPr sz="1650"/>
          </a:p>
        </p:txBody>
      </p:sp>
      <p:sp>
        <p:nvSpPr>
          <p:cNvPr descr="Rectangle 351" id="589" name="Google Shape;589;p64"/>
          <p:cNvSpPr txBox="1"/>
          <p:nvPr/>
        </p:nvSpPr>
        <p:spPr>
          <a:xfrm>
            <a:off x="9806512" y="5796715"/>
            <a:ext cx="1828800" cy="292200"/>
          </a:xfrm>
          <a:prstGeom prst="rect">
            <a:avLst/>
          </a:prstGeom>
          <a:solidFill>
            <a:srgbClr val="447BC4"/>
          </a:solidFill>
          <a:ln>
            <a:noFill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2" id="590" name="Google Shape;590;p64"/>
          <p:cNvSpPr txBox="1"/>
          <p:nvPr/>
        </p:nvSpPr>
        <p:spPr>
          <a:xfrm>
            <a:off x="9966325" y="5796563"/>
            <a:ext cx="168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Upcoming</a:t>
            </a:r>
            <a:endParaRPr sz="1500"/>
          </a:p>
        </p:txBody>
      </p:sp>
      <p:sp>
        <p:nvSpPr>
          <p:cNvPr descr="Rectangle 331" id="591" name="Google Shape;591;p64"/>
          <p:cNvSpPr txBox="1"/>
          <p:nvPr/>
        </p:nvSpPr>
        <p:spPr>
          <a:xfrm>
            <a:off x="9794137" y="3902303"/>
            <a:ext cx="1828800" cy="2937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31" id="592" name="Google Shape;592;p64"/>
          <p:cNvSpPr txBox="1"/>
          <p:nvPr/>
        </p:nvSpPr>
        <p:spPr>
          <a:xfrm>
            <a:off x="9806512" y="4359603"/>
            <a:ext cx="1828800" cy="2937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31" id="593" name="Google Shape;593;p64"/>
          <p:cNvSpPr txBox="1"/>
          <p:nvPr/>
        </p:nvSpPr>
        <p:spPr>
          <a:xfrm>
            <a:off x="9794137" y="4864416"/>
            <a:ext cx="1828800" cy="2937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37" id="594" name="Google Shape;594;p64"/>
          <p:cNvSpPr txBox="1"/>
          <p:nvPr/>
        </p:nvSpPr>
        <p:spPr>
          <a:xfrm>
            <a:off x="9851475" y="3894522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500"/>
          </a:p>
        </p:txBody>
      </p:sp>
      <p:sp>
        <p:nvSpPr>
          <p:cNvPr descr="TextBox 337" id="595" name="Google Shape;595;p64"/>
          <p:cNvSpPr txBox="1"/>
          <p:nvPr/>
        </p:nvSpPr>
        <p:spPr>
          <a:xfrm>
            <a:off x="9868623" y="4355722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500"/>
          </a:p>
        </p:txBody>
      </p:sp>
      <p:sp>
        <p:nvSpPr>
          <p:cNvPr descr="TextBox 337" id="596" name="Google Shape;596;p64"/>
          <p:cNvSpPr txBox="1"/>
          <p:nvPr/>
        </p:nvSpPr>
        <p:spPr>
          <a:xfrm>
            <a:off x="9876790" y="4852836"/>
            <a:ext cx="173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3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Completed</a:t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27;p8" id="601" name="Google Shape;601;p65"/>
          <p:cNvSpPr txBox="1"/>
          <p:nvPr>
            <p:ph type="title"/>
          </p:nvPr>
        </p:nvSpPr>
        <p:spPr>
          <a:xfrm>
            <a:off x="340662" y="148438"/>
            <a:ext cx="105156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 process</a:t>
            </a:r>
            <a:endParaRPr/>
          </a:p>
        </p:txBody>
      </p:sp>
      <p:sp>
        <p:nvSpPr>
          <p:cNvPr descr="Google Shape;328;p8" id="602" name="Google Shape;602;p65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pic>
        <p:nvPicPr>
          <p:cNvPr descr="Google Shape;329;p8" id="603" name="Google Shape;60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Google Shape;330;p8" id="604" name="Google Shape;604;p65"/>
          <p:cNvSpPr txBox="1"/>
          <p:nvPr/>
        </p:nvSpPr>
        <p:spPr>
          <a:xfrm>
            <a:off x="143150" y="1093125"/>
            <a:ext cx="116328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rPr i="1" lang="en-US" sz="19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HOW TEAM OCELLEON WORKS: AI/ML at the Core</a:t>
            </a:r>
            <a:endParaRPr i="1" sz="1900" u="sng">
              <a:solidFill>
                <a:srgbClr val="1B236A"/>
              </a:solidFill>
              <a:latin typeface="Lexend SemiBold"/>
              <a:ea typeface="Lexend SemiBold"/>
              <a:cs typeface="Lexend SemiBold"/>
              <a:sym typeface="Lexend SemiBol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C78D8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47BC4"/>
              </a:buClr>
              <a:buSzPts val="1500"/>
              <a:buFont typeface="Arial"/>
              <a:buNone/>
            </a:pPr>
            <a:r>
              <a:t/>
            </a:r>
            <a:endParaRPr b="1" sz="1600">
              <a:solidFill>
                <a:srgbClr val="3C78D8"/>
              </a:solidFill>
            </a:endParaRPr>
          </a:p>
        </p:txBody>
      </p:sp>
      <p:sp>
        <p:nvSpPr>
          <p:cNvPr id="605" name="Google Shape;605;p65"/>
          <p:cNvSpPr txBox="1"/>
          <p:nvPr/>
        </p:nvSpPr>
        <p:spPr>
          <a:xfrm>
            <a:off x="695711" y="1514425"/>
            <a:ext cx="11005500" cy="1299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800"/>
              <a:buFont typeface="Arial"/>
              <a:buNone/>
            </a:pPr>
            <a:r>
              <a:rPr b="1" lang="en-US" sz="1600">
                <a:solidFill>
                  <a:srgbClr val="1B236A"/>
                </a:solidFill>
              </a:rPr>
              <a:t>Team Logistics &amp; Sync</a:t>
            </a:r>
            <a:endParaRPr b="1" sz="1600">
              <a:solidFill>
                <a:srgbClr val="1B236A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Daily Synergy:</a:t>
            </a:r>
            <a:r>
              <a:rPr lang="en-US" sz="1500">
                <a:solidFill>
                  <a:srgbClr val="3C78D8"/>
                </a:solidFill>
              </a:rPr>
              <a:t> In-person during university hours for prototyping.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Deep Dives:</a:t>
            </a:r>
            <a:r>
              <a:rPr lang="en-US" sz="1500">
                <a:solidFill>
                  <a:srgbClr val="3C78D8"/>
                </a:solidFill>
              </a:rPr>
              <a:t> Weekly 90-minute Sunday virtual stand-ups for technical reviews.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Centralized Docs:</a:t>
            </a:r>
            <a:r>
              <a:rPr lang="en-US" sz="1500">
                <a:solidFill>
                  <a:srgbClr val="3C78D8"/>
                </a:solidFill>
              </a:rPr>
              <a:t> Notion serves as the source for decisions and hardware datasheets.</a:t>
            </a:r>
            <a:endParaRPr sz="1500">
              <a:solidFill>
                <a:srgbClr val="3C78D8"/>
              </a:solidFill>
            </a:endParaRPr>
          </a:p>
        </p:txBody>
      </p:sp>
      <p:sp>
        <p:nvSpPr>
          <p:cNvPr id="606" name="Google Shape;606;p65"/>
          <p:cNvSpPr txBox="1"/>
          <p:nvPr/>
        </p:nvSpPr>
        <p:spPr>
          <a:xfrm>
            <a:off x="702911" y="2881015"/>
            <a:ext cx="10991100" cy="1623900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36A"/>
                </a:solidFill>
              </a:rPr>
              <a:t>Development Workflow</a:t>
            </a:r>
            <a:endParaRPr b="1" sz="1600">
              <a:solidFill>
                <a:srgbClr val="1B236A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Version Control:</a:t>
            </a:r>
            <a:r>
              <a:rPr lang="en-US" sz="1500">
                <a:solidFill>
                  <a:srgbClr val="3C78D8"/>
                </a:solidFill>
              </a:rPr>
              <a:t> GitHub feature-branch workflow with milestones in GitHub Projects.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Quality Control:</a:t>
            </a:r>
            <a:r>
              <a:rPr lang="en-US" sz="1500">
                <a:solidFill>
                  <a:srgbClr val="3C78D8"/>
                </a:solidFill>
              </a:rPr>
              <a:t> Automated CI pipelines for firmware builds on every Pull Request.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Resource Hub:</a:t>
            </a:r>
            <a:r>
              <a:rPr lang="en-US" sz="1500">
                <a:solidFill>
                  <a:srgbClr val="3C78D8"/>
                </a:solidFill>
              </a:rPr>
              <a:t> Shared Google Drive for large datasets and technical reports.</a:t>
            </a:r>
            <a:endParaRPr sz="1500"/>
          </a:p>
        </p:txBody>
      </p:sp>
      <p:sp>
        <p:nvSpPr>
          <p:cNvPr id="607" name="Google Shape;607;p65"/>
          <p:cNvSpPr txBox="1"/>
          <p:nvPr/>
        </p:nvSpPr>
        <p:spPr>
          <a:xfrm>
            <a:off x="677489" y="4580675"/>
            <a:ext cx="11005500" cy="2190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B236A"/>
                </a:solidFill>
              </a:rPr>
              <a:t>AI/ML Core: Tarang</a:t>
            </a:r>
            <a:endParaRPr b="1" sz="1600">
              <a:solidFill>
                <a:srgbClr val="1B236A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Edge Intelligence:</a:t>
            </a:r>
            <a:r>
              <a:rPr lang="en-US" sz="1500">
                <a:solidFill>
                  <a:srgbClr val="3C78D8"/>
                </a:solidFill>
              </a:rPr>
              <a:t> Quantized 1D-CNN (TFLite Micro) running on the EFR32MG26 hardware accelerator.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Artifact Suppression:</a:t>
            </a:r>
            <a:r>
              <a:rPr lang="en-US" sz="1500">
                <a:solidFill>
                  <a:srgbClr val="3C78D8"/>
                </a:solidFill>
              </a:rPr>
              <a:t> IMU-assisted NLMS adaptive filtering for motion-proof ECG signals.</a:t>
            </a:r>
            <a:endParaRPr sz="1500">
              <a:solidFill>
                <a:srgbClr val="3C78D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●"/>
            </a:pPr>
            <a:r>
              <a:rPr b="1" lang="en-US" sz="1500">
                <a:solidFill>
                  <a:srgbClr val="3C78D8"/>
                </a:solidFill>
              </a:rPr>
              <a:t>Optimized Performance:                                          </a:t>
            </a:r>
            <a:endParaRPr b="1" sz="1500">
              <a:solidFill>
                <a:srgbClr val="3C78D8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○"/>
            </a:pPr>
            <a:r>
              <a:rPr b="1" lang="en-US" sz="1500">
                <a:solidFill>
                  <a:srgbClr val="3C78D8"/>
                </a:solidFill>
              </a:rPr>
              <a:t>Size &amp; Validation:</a:t>
            </a:r>
            <a:r>
              <a:rPr lang="en-US" sz="1500">
                <a:solidFill>
                  <a:srgbClr val="3C78D8"/>
                </a:solidFill>
              </a:rPr>
              <a:t> Ultra-lean &lt;75KB memory footprint, </a:t>
            </a:r>
            <a:r>
              <a:rPr lang="en-US" sz="1500">
                <a:solidFill>
                  <a:srgbClr val="3C78D8"/>
                </a:solidFill>
              </a:rPr>
              <a:t>MIT-BIH/PhysioNet Datasets</a:t>
            </a:r>
            <a:r>
              <a:rPr lang="en-US" sz="1500">
                <a:solidFill>
                  <a:srgbClr val="3C78D8"/>
                </a:solidFill>
              </a:rPr>
              <a:t>      </a:t>
            </a:r>
            <a:endParaRPr sz="1500">
              <a:solidFill>
                <a:srgbClr val="3C78D8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○"/>
            </a:pPr>
            <a:r>
              <a:rPr b="1" lang="en-US" sz="1500">
                <a:solidFill>
                  <a:srgbClr val="3C78D8"/>
                </a:solidFill>
              </a:rPr>
              <a:t>Power Efficiency:</a:t>
            </a:r>
            <a:r>
              <a:rPr lang="en-US" sz="1500">
                <a:solidFill>
                  <a:srgbClr val="3C78D8"/>
                </a:solidFill>
              </a:rPr>
              <a:t> Offloaded to MVP hardware for </a:t>
            </a:r>
            <a:r>
              <a:rPr b="1" lang="en-US" sz="1500">
                <a:solidFill>
                  <a:srgbClr val="3C78D8"/>
                </a:solidFill>
              </a:rPr>
              <a:t>near-zero CPU load</a:t>
            </a:r>
            <a:r>
              <a:rPr lang="en-US" sz="1500">
                <a:solidFill>
                  <a:srgbClr val="3C78D8"/>
                </a:solidFill>
              </a:rPr>
              <a:t>, maximizing battery life.</a:t>
            </a:r>
            <a:endParaRPr sz="1500">
              <a:solidFill>
                <a:srgbClr val="3C78D8"/>
              </a:solidFill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500"/>
              <a:buChar char="○"/>
            </a:pPr>
            <a:r>
              <a:rPr b="1" lang="en-US" sz="1500">
                <a:solidFill>
                  <a:srgbClr val="3C78D8"/>
                </a:solidFill>
              </a:rPr>
              <a:t>Data Integrity:</a:t>
            </a:r>
            <a:r>
              <a:rPr lang="en-US" sz="1500">
                <a:solidFill>
                  <a:srgbClr val="3C78D8"/>
                </a:solidFill>
              </a:rPr>
              <a:t> 100% on-device processing ensures zero privacy risk and offline reliability.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36;p9" id="612" name="Google Shape;612;p66"/>
          <p:cNvSpPr txBox="1"/>
          <p:nvPr>
            <p:ph type="title"/>
          </p:nvPr>
        </p:nvSpPr>
        <p:spPr>
          <a:xfrm>
            <a:off x="525462" y="190500"/>
            <a:ext cx="10515600" cy="70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Management</a:t>
            </a:r>
            <a:endParaRPr/>
          </a:p>
        </p:txBody>
      </p:sp>
      <p:sp>
        <p:nvSpPr>
          <p:cNvPr descr="Google Shape;337;p9" id="613" name="Google Shape;613;p66"/>
          <p:cNvSpPr txBox="1"/>
          <p:nvPr/>
        </p:nvSpPr>
        <p:spPr>
          <a:xfrm>
            <a:off x="11718925" y="6415087"/>
            <a:ext cx="188912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338;p9" id="614" name="Google Shape;614;p66"/>
          <p:cNvSpPr txBox="1"/>
          <p:nvPr/>
        </p:nvSpPr>
        <p:spPr>
          <a:xfrm>
            <a:off x="48550" y="1153450"/>
            <a:ext cx="1133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700"/>
              <a:buFont typeface="Arial"/>
              <a:buNone/>
            </a:pPr>
            <a:r>
              <a:rPr i="1" lang="en-US" sz="18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FORECASTED RISKS AND MITIGATION ACTIONS</a:t>
            </a:r>
            <a:endParaRPr i="1" sz="15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Google Shape;339;p9" id="615" name="Google Shape;61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ctangle 339" id="616" name="Google Shape;616;p66"/>
          <p:cNvSpPr txBox="1"/>
          <p:nvPr/>
        </p:nvSpPr>
        <p:spPr>
          <a:xfrm>
            <a:off x="48550" y="1712532"/>
            <a:ext cx="5419200" cy="3552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40" id="617" name="Google Shape;617;p66"/>
          <p:cNvSpPr txBox="1"/>
          <p:nvPr/>
        </p:nvSpPr>
        <p:spPr>
          <a:xfrm>
            <a:off x="5516390" y="1712532"/>
            <a:ext cx="1305300" cy="3552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41" id="618" name="Google Shape;618;p66"/>
          <p:cNvSpPr txBox="1"/>
          <p:nvPr/>
        </p:nvSpPr>
        <p:spPr>
          <a:xfrm>
            <a:off x="6870332" y="1712532"/>
            <a:ext cx="5273100" cy="3552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2" id="619" name="Google Shape;619;p66"/>
          <p:cNvSpPr txBox="1"/>
          <p:nvPr/>
        </p:nvSpPr>
        <p:spPr>
          <a:xfrm>
            <a:off x="145980" y="1733622"/>
            <a:ext cx="5224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3"/>
              <a:buFont typeface="Arial"/>
              <a:buNone/>
            </a:pPr>
            <a:r>
              <a:rPr b="1" i="0" lang="en-US" sz="176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</a:t>
            </a:r>
            <a:endParaRPr sz="1863"/>
          </a:p>
        </p:txBody>
      </p:sp>
      <p:sp>
        <p:nvSpPr>
          <p:cNvPr descr="TextBox 343" id="620" name="Google Shape;620;p66"/>
          <p:cNvSpPr txBox="1"/>
          <p:nvPr/>
        </p:nvSpPr>
        <p:spPr>
          <a:xfrm>
            <a:off x="5583583" y="1733622"/>
            <a:ext cx="11610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3"/>
              <a:buFont typeface="Arial"/>
              <a:buNone/>
            </a:pPr>
            <a:r>
              <a:rPr b="1" i="0" lang="en-US" sz="176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sz="1863"/>
          </a:p>
        </p:txBody>
      </p:sp>
      <p:sp>
        <p:nvSpPr>
          <p:cNvPr descr="TextBox 344" id="621" name="Google Shape;621;p66"/>
          <p:cNvSpPr txBox="1"/>
          <p:nvPr/>
        </p:nvSpPr>
        <p:spPr>
          <a:xfrm>
            <a:off x="6957683" y="1733622"/>
            <a:ext cx="5128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43"/>
              <a:buFont typeface="Arial"/>
              <a:buNone/>
            </a:pPr>
            <a:r>
              <a:rPr b="1" i="0" lang="en-US" sz="176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Mitigation Action</a:t>
            </a:r>
            <a:endParaRPr sz="1863"/>
          </a:p>
        </p:txBody>
      </p:sp>
      <p:sp>
        <p:nvSpPr>
          <p:cNvPr descr="Rectangle 345" id="622" name="Google Shape;622;p66"/>
          <p:cNvSpPr txBox="1"/>
          <p:nvPr/>
        </p:nvSpPr>
        <p:spPr>
          <a:xfrm>
            <a:off x="48550" y="2173128"/>
            <a:ext cx="54192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46" id="623" name="Google Shape;623;p66"/>
          <p:cNvSpPr txBox="1"/>
          <p:nvPr/>
        </p:nvSpPr>
        <p:spPr>
          <a:xfrm>
            <a:off x="5516390" y="2173128"/>
            <a:ext cx="13053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47" id="624" name="Google Shape;624;p66"/>
          <p:cNvSpPr txBox="1"/>
          <p:nvPr/>
        </p:nvSpPr>
        <p:spPr>
          <a:xfrm>
            <a:off x="6870332" y="2173128"/>
            <a:ext cx="52731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8" id="625" name="Google Shape;625;p66"/>
          <p:cNvSpPr txBox="1"/>
          <p:nvPr/>
        </p:nvSpPr>
        <p:spPr>
          <a:xfrm>
            <a:off x="145980" y="2234641"/>
            <a:ext cx="522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40"/>
              <a:buFont typeface="Arial"/>
              <a:buNone/>
            </a:pPr>
            <a:r>
              <a:rPr b="0" i="0" lang="en-US" sz="1757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Signal noise in electrode placement</a:t>
            </a:r>
            <a:endParaRPr sz="1963"/>
          </a:p>
        </p:txBody>
      </p:sp>
      <p:sp>
        <p:nvSpPr>
          <p:cNvPr descr="Rectangle 349" id="626" name="Google Shape;626;p66"/>
          <p:cNvSpPr txBox="1"/>
          <p:nvPr/>
        </p:nvSpPr>
        <p:spPr>
          <a:xfrm>
            <a:off x="5650777" y="2315487"/>
            <a:ext cx="1016100" cy="2826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0" id="627" name="Google Shape;627;p66"/>
          <p:cNvSpPr txBox="1"/>
          <p:nvPr/>
        </p:nvSpPr>
        <p:spPr>
          <a:xfrm>
            <a:off x="5699491" y="2315487"/>
            <a:ext cx="9189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3"/>
              <a:buFont typeface="Arial"/>
              <a:buNone/>
            </a:pPr>
            <a:r>
              <a:rPr b="1" i="0" lang="en-US" sz="1553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967"/>
          </a:p>
        </p:txBody>
      </p:sp>
      <p:sp>
        <p:nvSpPr>
          <p:cNvPr descr="TextBox 351" id="628" name="Google Shape;628;p66"/>
          <p:cNvSpPr txBox="1"/>
          <p:nvPr/>
        </p:nvSpPr>
        <p:spPr>
          <a:xfrm>
            <a:off x="6957683" y="2234641"/>
            <a:ext cx="51282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37"/>
              <a:buFont typeface="Arial"/>
              <a:buNone/>
            </a:pPr>
            <a:r>
              <a:rPr b="0" i="0" lang="en-US" sz="14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Active Right Leg Drive circuit with gel electrode fallback. Common-mode rejection via AD8</a:t>
            </a:r>
            <a:r>
              <a:rPr lang="en-US" sz="1447">
                <a:solidFill>
                  <a:srgbClr val="447BC4"/>
                </a:solidFill>
              </a:rPr>
              <a:t>23</a:t>
            </a:r>
            <a:r>
              <a:rPr b="0" i="0" lang="en-US" sz="1447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757"/>
          </a:p>
        </p:txBody>
      </p:sp>
      <p:sp>
        <p:nvSpPr>
          <p:cNvPr descr="Rectangle 352" id="629" name="Google Shape;629;p66"/>
          <p:cNvSpPr txBox="1"/>
          <p:nvPr/>
        </p:nvSpPr>
        <p:spPr>
          <a:xfrm>
            <a:off x="48550" y="2849834"/>
            <a:ext cx="54192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53" id="630" name="Google Shape;630;p66"/>
          <p:cNvSpPr txBox="1"/>
          <p:nvPr/>
        </p:nvSpPr>
        <p:spPr>
          <a:xfrm>
            <a:off x="5516390" y="2849834"/>
            <a:ext cx="13053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54" id="631" name="Google Shape;631;p66"/>
          <p:cNvSpPr txBox="1"/>
          <p:nvPr/>
        </p:nvSpPr>
        <p:spPr>
          <a:xfrm>
            <a:off x="6870332" y="2849834"/>
            <a:ext cx="52731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5" id="632" name="Google Shape;632;p66"/>
          <p:cNvSpPr txBox="1"/>
          <p:nvPr/>
        </p:nvSpPr>
        <p:spPr>
          <a:xfrm>
            <a:off x="145980" y="2909589"/>
            <a:ext cx="5224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40"/>
              <a:buFont typeface="Arial"/>
              <a:buNone/>
            </a:pPr>
            <a:r>
              <a:rPr b="0" i="0" lang="en-US" sz="165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CNN model too large for MCU flash</a:t>
            </a:r>
            <a:endParaRPr sz="2480"/>
          </a:p>
        </p:txBody>
      </p:sp>
      <p:sp>
        <p:nvSpPr>
          <p:cNvPr descr="Rectangle 356" id="633" name="Google Shape;633;p66"/>
          <p:cNvSpPr txBox="1"/>
          <p:nvPr/>
        </p:nvSpPr>
        <p:spPr>
          <a:xfrm>
            <a:off x="5650777" y="2990435"/>
            <a:ext cx="1016100" cy="282600"/>
          </a:xfrm>
          <a:prstGeom prst="rect">
            <a:avLst/>
          </a:prstGeom>
          <a:solidFill>
            <a:srgbClr val="CC8800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7" id="634" name="Google Shape;634;p66"/>
          <p:cNvSpPr txBox="1"/>
          <p:nvPr/>
        </p:nvSpPr>
        <p:spPr>
          <a:xfrm>
            <a:off x="5699491" y="2990435"/>
            <a:ext cx="9189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3"/>
              <a:buFont typeface="Arial"/>
              <a:buNone/>
            </a:pPr>
            <a:r>
              <a:rPr b="1" i="0" lang="en-US" sz="1553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sz="1553"/>
          </a:p>
        </p:txBody>
      </p:sp>
      <p:sp>
        <p:nvSpPr>
          <p:cNvPr descr="TextBox 358" id="635" name="Google Shape;635;p66"/>
          <p:cNvSpPr txBox="1"/>
          <p:nvPr/>
        </p:nvSpPr>
        <p:spPr>
          <a:xfrm>
            <a:off x="6957683" y="2909589"/>
            <a:ext cx="512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37"/>
              <a:buFont typeface="Arial"/>
              <a:buNone/>
            </a:pPr>
            <a:r>
              <a:rPr b="0" i="0" lang="en-US" sz="1343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0" i="0" lang="en-US" sz="155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nt8 quantization + TFLite Micro keeps model &lt;</a:t>
            </a:r>
            <a:r>
              <a:rPr lang="en-US" sz="1550">
                <a:solidFill>
                  <a:srgbClr val="447BC4"/>
                </a:solidFill>
              </a:rPr>
              <a:t>75 </a:t>
            </a:r>
            <a:r>
              <a:rPr b="0" i="0" lang="en-US" sz="155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KB. Pruning available if needed</a:t>
            </a:r>
            <a:endParaRPr sz="1860"/>
          </a:p>
        </p:txBody>
      </p:sp>
      <p:sp>
        <p:nvSpPr>
          <p:cNvPr descr="Rectangle 359" id="636" name="Google Shape;636;p66"/>
          <p:cNvSpPr txBox="1"/>
          <p:nvPr/>
        </p:nvSpPr>
        <p:spPr>
          <a:xfrm>
            <a:off x="48550" y="3524782"/>
            <a:ext cx="54192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60" id="637" name="Google Shape;637;p66"/>
          <p:cNvSpPr txBox="1"/>
          <p:nvPr/>
        </p:nvSpPr>
        <p:spPr>
          <a:xfrm>
            <a:off x="5516390" y="3524782"/>
            <a:ext cx="13053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61" id="638" name="Google Shape;638;p66"/>
          <p:cNvSpPr txBox="1"/>
          <p:nvPr/>
        </p:nvSpPr>
        <p:spPr>
          <a:xfrm>
            <a:off x="6870332" y="3524782"/>
            <a:ext cx="52731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62" id="639" name="Google Shape;639;p66"/>
          <p:cNvSpPr txBox="1"/>
          <p:nvPr/>
        </p:nvSpPr>
        <p:spPr>
          <a:xfrm>
            <a:off x="145980" y="3584538"/>
            <a:ext cx="5224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40"/>
              <a:buFont typeface="Arial"/>
              <a:buNone/>
            </a:pPr>
            <a:r>
              <a:rPr b="0" i="0" lang="en-US" sz="165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BLE interference in clinical settings</a:t>
            </a:r>
            <a:endParaRPr sz="1860"/>
          </a:p>
        </p:txBody>
      </p:sp>
      <p:sp>
        <p:nvSpPr>
          <p:cNvPr descr="Rectangle 363" id="640" name="Google Shape;640;p66"/>
          <p:cNvSpPr txBox="1"/>
          <p:nvPr/>
        </p:nvSpPr>
        <p:spPr>
          <a:xfrm>
            <a:off x="5650777" y="3667140"/>
            <a:ext cx="1016100" cy="282600"/>
          </a:xfrm>
          <a:prstGeom prst="rect">
            <a:avLst/>
          </a:prstGeom>
          <a:solidFill>
            <a:srgbClr val="CC8800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64" id="641" name="Google Shape;641;p66"/>
          <p:cNvSpPr txBox="1"/>
          <p:nvPr/>
        </p:nvSpPr>
        <p:spPr>
          <a:xfrm>
            <a:off x="5699491" y="3667140"/>
            <a:ext cx="9189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3"/>
              <a:buFont typeface="Arial"/>
              <a:buNone/>
            </a:pPr>
            <a:r>
              <a:rPr b="1" i="0" lang="en-US" sz="1553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sz="1967"/>
          </a:p>
        </p:txBody>
      </p:sp>
      <p:sp>
        <p:nvSpPr>
          <p:cNvPr descr="TextBox 365" id="642" name="Google Shape;642;p66"/>
          <p:cNvSpPr txBox="1"/>
          <p:nvPr/>
        </p:nvSpPr>
        <p:spPr>
          <a:xfrm>
            <a:off x="6957675" y="3524775"/>
            <a:ext cx="51282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47BC4"/>
                </a:solidFill>
              </a:rPr>
              <a:t>BLE 5.3 telemetry validated with Raspberry Pi backend.</a:t>
            </a:r>
            <a:endParaRPr sz="1550">
              <a:solidFill>
                <a:srgbClr val="447BC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447BC4"/>
                </a:solidFill>
              </a:rPr>
              <a:t>Secure pairing and encrypted transport - In progress</a:t>
            </a:r>
            <a:endParaRPr sz="1550">
              <a:solidFill>
                <a:srgbClr val="447BC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37"/>
              <a:buFont typeface="Arial"/>
              <a:buNone/>
            </a:pPr>
            <a:r>
              <a:rPr b="0" i="0" lang="en-US" sz="155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60"/>
          </a:p>
        </p:txBody>
      </p:sp>
      <p:sp>
        <p:nvSpPr>
          <p:cNvPr descr="Rectangle 366" id="643" name="Google Shape;643;p66"/>
          <p:cNvSpPr txBox="1"/>
          <p:nvPr/>
        </p:nvSpPr>
        <p:spPr>
          <a:xfrm>
            <a:off x="48550" y="4217370"/>
            <a:ext cx="54192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67" id="644" name="Google Shape;644;p66"/>
          <p:cNvSpPr txBox="1"/>
          <p:nvPr/>
        </p:nvSpPr>
        <p:spPr>
          <a:xfrm>
            <a:off x="5516390" y="4217370"/>
            <a:ext cx="13053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68" id="645" name="Google Shape;645;p66"/>
          <p:cNvSpPr txBox="1"/>
          <p:nvPr/>
        </p:nvSpPr>
        <p:spPr>
          <a:xfrm>
            <a:off x="6870332" y="4217370"/>
            <a:ext cx="52731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69" id="646" name="Google Shape;646;p66"/>
          <p:cNvSpPr txBox="1"/>
          <p:nvPr/>
        </p:nvSpPr>
        <p:spPr>
          <a:xfrm>
            <a:off x="145980" y="4278882"/>
            <a:ext cx="5224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40"/>
              <a:buFont typeface="Arial"/>
              <a:buNone/>
            </a:pPr>
            <a:r>
              <a:rPr b="0" i="0" lang="en-US" sz="165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Power budget exceeded during inference</a:t>
            </a:r>
            <a:endParaRPr sz="1860"/>
          </a:p>
        </p:txBody>
      </p:sp>
      <p:sp>
        <p:nvSpPr>
          <p:cNvPr descr="Rectangle 370" id="647" name="Google Shape;647;p66"/>
          <p:cNvSpPr txBox="1"/>
          <p:nvPr/>
        </p:nvSpPr>
        <p:spPr>
          <a:xfrm>
            <a:off x="5650777" y="4359727"/>
            <a:ext cx="1016100" cy="282600"/>
          </a:xfrm>
          <a:prstGeom prst="rect">
            <a:avLst/>
          </a:prstGeom>
          <a:solidFill>
            <a:srgbClr val="CC0000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71" id="648" name="Google Shape;648;p66"/>
          <p:cNvSpPr txBox="1"/>
          <p:nvPr/>
        </p:nvSpPr>
        <p:spPr>
          <a:xfrm>
            <a:off x="5699491" y="4359727"/>
            <a:ext cx="918900" cy="3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3"/>
              <a:buFont typeface="Arial"/>
              <a:buNone/>
            </a:pPr>
            <a:r>
              <a:rPr b="1" i="0" lang="en-US" sz="1553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553"/>
          </a:p>
        </p:txBody>
      </p:sp>
      <p:sp>
        <p:nvSpPr>
          <p:cNvPr descr="TextBox 372" id="649" name="Google Shape;649;p66"/>
          <p:cNvSpPr txBox="1"/>
          <p:nvPr/>
        </p:nvSpPr>
        <p:spPr>
          <a:xfrm>
            <a:off x="6957683" y="4278882"/>
            <a:ext cx="512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37"/>
              <a:buFont typeface="Arial"/>
              <a:buNone/>
            </a:pPr>
            <a:r>
              <a:rPr b="0" i="0" lang="en-US" sz="155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MVP runs only on interrupt. PRS+LDMA keeps CPU in EM2 &gt;9</a:t>
            </a:r>
            <a:r>
              <a:rPr lang="en-US" sz="1550">
                <a:solidFill>
                  <a:srgbClr val="447BC4"/>
                </a:solidFill>
              </a:rPr>
              <a:t>9</a:t>
            </a:r>
            <a:r>
              <a:rPr b="0" i="0" lang="en-US" sz="155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% of the time in ECG acquisiti</a:t>
            </a:r>
            <a:r>
              <a:rPr lang="en-US" sz="1550">
                <a:solidFill>
                  <a:srgbClr val="447BC4"/>
                </a:solidFill>
              </a:rPr>
              <a:t>on</a:t>
            </a:r>
            <a:endParaRPr sz="1860"/>
          </a:p>
        </p:txBody>
      </p:sp>
      <p:sp>
        <p:nvSpPr>
          <p:cNvPr descr="Rectangle 373" id="650" name="Google Shape;650;p66"/>
          <p:cNvSpPr txBox="1"/>
          <p:nvPr/>
        </p:nvSpPr>
        <p:spPr>
          <a:xfrm>
            <a:off x="48550" y="4944472"/>
            <a:ext cx="54192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74" id="651" name="Google Shape;651;p66"/>
          <p:cNvSpPr txBox="1"/>
          <p:nvPr/>
        </p:nvSpPr>
        <p:spPr>
          <a:xfrm>
            <a:off x="5516390" y="4944472"/>
            <a:ext cx="13053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 375" id="652" name="Google Shape;652;p66"/>
          <p:cNvSpPr txBox="1"/>
          <p:nvPr/>
        </p:nvSpPr>
        <p:spPr>
          <a:xfrm>
            <a:off x="6870332" y="4944472"/>
            <a:ext cx="5273100" cy="58710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76" id="653" name="Google Shape;653;p66"/>
          <p:cNvSpPr txBox="1"/>
          <p:nvPr/>
        </p:nvSpPr>
        <p:spPr>
          <a:xfrm>
            <a:off x="145980" y="4989108"/>
            <a:ext cx="52242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240"/>
              <a:buFont typeface="Arial"/>
              <a:buNone/>
            </a:pPr>
            <a:r>
              <a:rPr b="0" i="0" lang="en-US" sz="1653" u="none">
                <a:solidFill>
                  <a:srgbClr val="1B236A"/>
                </a:solidFill>
                <a:latin typeface="Arial"/>
                <a:ea typeface="Arial"/>
                <a:cs typeface="Arial"/>
                <a:sym typeface="Arial"/>
              </a:rPr>
              <a:t>Hardware damage or component delay</a:t>
            </a:r>
            <a:endParaRPr sz="1860"/>
          </a:p>
        </p:txBody>
      </p:sp>
      <p:sp>
        <p:nvSpPr>
          <p:cNvPr descr="Rectangle 377" id="654" name="Google Shape;654;p66"/>
          <p:cNvSpPr txBox="1"/>
          <p:nvPr/>
        </p:nvSpPr>
        <p:spPr>
          <a:xfrm>
            <a:off x="5650777" y="5069953"/>
            <a:ext cx="1016100" cy="284700"/>
          </a:xfrm>
          <a:prstGeom prst="rect">
            <a:avLst/>
          </a:prstGeom>
          <a:solidFill>
            <a:srgbClr val="1E7A3E"/>
          </a:solidFill>
          <a:ln>
            <a:noFill/>
          </a:ln>
          <a:effectLst>
            <a:outerShdw blurRad="65616" dir="5400000" dist="23767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53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78" id="655" name="Google Shape;655;p66"/>
          <p:cNvSpPr txBox="1"/>
          <p:nvPr/>
        </p:nvSpPr>
        <p:spPr>
          <a:xfrm>
            <a:off x="5699491" y="5085073"/>
            <a:ext cx="918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3"/>
              <a:buFont typeface="Arial"/>
              <a:buNone/>
            </a:pPr>
            <a:r>
              <a:rPr b="1" i="0" lang="en-US" sz="1347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sz="1760"/>
          </a:p>
        </p:txBody>
      </p:sp>
      <p:sp>
        <p:nvSpPr>
          <p:cNvPr descr="TextBox 379" id="656" name="Google Shape;656;p66"/>
          <p:cNvSpPr txBox="1"/>
          <p:nvPr/>
        </p:nvSpPr>
        <p:spPr>
          <a:xfrm>
            <a:off x="6957683" y="4989108"/>
            <a:ext cx="5128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7225" lIns="47225" spcFirstLastPara="1" rIns="47225" wrap="square" tIns="472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BC4"/>
              </a:buClr>
              <a:buSzPts val="1137"/>
              <a:buFont typeface="Arial"/>
              <a:buNone/>
            </a:pPr>
            <a:r>
              <a:rPr b="0" i="0" lang="en-US" sz="1550" u="none">
                <a:solidFill>
                  <a:srgbClr val="447BC4"/>
                </a:solidFill>
                <a:latin typeface="Arial"/>
                <a:ea typeface="Arial"/>
                <a:cs typeface="Arial"/>
                <a:sym typeface="Arial"/>
              </a:rPr>
              <a:t>All components duplicated in BOM. BGM220 Explorer Kit as secondary fallback platform</a:t>
            </a:r>
            <a:endParaRPr sz="186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45;p10" id="661" name="Google Shape;661;p67"/>
          <p:cNvSpPr txBox="1"/>
          <p:nvPr>
            <p:ph type="title"/>
          </p:nvPr>
        </p:nvSpPr>
        <p:spPr>
          <a:xfrm>
            <a:off x="216936" y="135010"/>
            <a:ext cx="105156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Additional information</a:t>
            </a:r>
            <a:endParaRPr/>
          </a:p>
        </p:txBody>
      </p:sp>
      <p:sp>
        <p:nvSpPr>
          <p:cNvPr descr="Google Shape;346;p10" id="662" name="Google Shape;662;p67"/>
          <p:cNvSpPr txBox="1"/>
          <p:nvPr/>
        </p:nvSpPr>
        <p:spPr>
          <a:xfrm>
            <a:off x="11633200" y="6415087"/>
            <a:ext cx="274637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B5B5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B5B5B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descr="Google Shape;347;p10" id="663" name="Google Shape;663;p67"/>
          <p:cNvSpPr txBox="1"/>
          <p:nvPr/>
        </p:nvSpPr>
        <p:spPr>
          <a:xfrm>
            <a:off x="438150" y="1255043"/>
            <a:ext cx="11337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700"/>
              <a:buFont typeface="Arial"/>
              <a:buNone/>
            </a:pPr>
            <a:r>
              <a:rPr i="1" lang="en-US" sz="22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SYSTEM OUTPUTS</a:t>
            </a:r>
            <a:endParaRPr i="1" sz="19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pic>
        <p:nvPicPr>
          <p:cNvPr descr="Google Shape;348;p10" id="664" name="Google Shape;664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325" y="282575"/>
            <a:ext cx="741362" cy="441325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ctangle 348" id="665" name="Google Shape;665;p67"/>
          <p:cNvSpPr txBox="1"/>
          <p:nvPr/>
        </p:nvSpPr>
        <p:spPr>
          <a:xfrm>
            <a:off x="392137" y="1882404"/>
            <a:ext cx="37035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49" id="666" name="Google Shape;666;p67"/>
          <p:cNvSpPr txBox="1"/>
          <p:nvPr/>
        </p:nvSpPr>
        <p:spPr>
          <a:xfrm>
            <a:off x="530250" y="1928441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❤️  Heart Rate</a:t>
            </a:r>
            <a:endParaRPr sz="1700"/>
          </a:p>
        </p:txBody>
      </p:sp>
      <p:sp>
        <p:nvSpPr>
          <p:cNvPr descr="TextBox 350" id="667" name="Google Shape;667;p67"/>
          <p:cNvSpPr txBox="1"/>
          <p:nvPr/>
        </p:nvSpPr>
        <p:spPr>
          <a:xfrm>
            <a:off x="530250" y="2203079"/>
            <a:ext cx="3429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Real-time BPM measurement from ECG + PPG fusion. Updated every heartbeat.</a:t>
            </a:r>
            <a:endParaRPr/>
          </a:p>
        </p:txBody>
      </p:sp>
      <p:sp>
        <p:nvSpPr>
          <p:cNvPr descr="Rectangle 351" id="668" name="Google Shape;668;p67"/>
          <p:cNvSpPr txBox="1"/>
          <p:nvPr/>
        </p:nvSpPr>
        <p:spPr>
          <a:xfrm>
            <a:off x="4232300" y="1867285"/>
            <a:ext cx="37035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2" id="669" name="Google Shape;669;p67"/>
          <p:cNvSpPr txBox="1"/>
          <p:nvPr/>
        </p:nvSpPr>
        <p:spPr>
          <a:xfrm>
            <a:off x="4370412" y="1928441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🩺  Arrhythmia Detection</a:t>
            </a:r>
            <a:endParaRPr sz="1700"/>
          </a:p>
        </p:txBody>
      </p:sp>
      <p:sp>
        <p:nvSpPr>
          <p:cNvPr descr="TextBox 353" id="670" name="Google Shape;670;p67"/>
          <p:cNvSpPr txBox="1"/>
          <p:nvPr/>
        </p:nvSpPr>
        <p:spPr>
          <a:xfrm>
            <a:off x="4370412" y="2203079"/>
            <a:ext cx="3429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AFib and PVC classification via 1D-CNN</a:t>
            </a:r>
            <a:r>
              <a:rPr lang="en-US" sz="1100">
                <a:solidFill>
                  <a:srgbClr val="CCDDFF"/>
                </a:solidFill>
              </a:rPr>
              <a:t> and event driven output </a:t>
            </a:r>
            <a:endParaRPr/>
          </a:p>
        </p:txBody>
      </p:sp>
      <p:sp>
        <p:nvSpPr>
          <p:cNvPr descr="Rectangle 354" id="671" name="Google Shape;671;p67"/>
          <p:cNvSpPr txBox="1"/>
          <p:nvPr/>
        </p:nvSpPr>
        <p:spPr>
          <a:xfrm>
            <a:off x="8074025" y="1829785"/>
            <a:ext cx="37020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5" id="672" name="Google Shape;672;p67"/>
          <p:cNvSpPr txBox="1"/>
          <p:nvPr/>
        </p:nvSpPr>
        <p:spPr>
          <a:xfrm>
            <a:off x="8210550" y="1890941"/>
            <a:ext cx="342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6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🔵  SpO₂ Level</a:t>
            </a:r>
            <a:endParaRPr sz="1700"/>
          </a:p>
        </p:txBody>
      </p:sp>
      <p:sp>
        <p:nvSpPr>
          <p:cNvPr descr="TextBox 356" id="673" name="Google Shape;673;p67"/>
          <p:cNvSpPr txBox="1"/>
          <p:nvPr/>
        </p:nvSpPr>
        <p:spPr>
          <a:xfrm>
            <a:off x="8210550" y="2165579"/>
            <a:ext cx="3429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1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Blood oxygen saturation (%) from MAX30102 optical sensor.</a:t>
            </a:r>
            <a:endParaRPr/>
          </a:p>
        </p:txBody>
      </p:sp>
      <p:sp>
        <p:nvSpPr>
          <p:cNvPr descr="Rectangle 357" id="674" name="Google Shape;674;p67"/>
          <p:cNvSpPr txBox="1"/>
          <p:nvPr/>
        </p:nvSpPr>
        <p:spPr>
          <a:xfrm>
            <a:off x="392137" y="2857960"/>
            <a:ext cx="37035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58" id="675" name="Google Shape;675;p67"/>
          <p:cNvSpPr txBox="1"/>
          <p:nvPr/>
        </p:nvSpPr>
        <p:spPr>
          <a:xfrm>
            <a:off x="530250" y="2888879"/>
            <a:ext cx="342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b="1" lang="en-US" sz="1500">
                <a:solidFill>
                  <a:srgbClr val="FFFFFF"/>
                </a:solidFill>
              </a:rPr>
              <a:t>Device Health &amp; HRV</a:t>
            </a:r>
            <a:endParaRPr sz="1600"/>
          </a:p>
        </p:txBody>
      </p:sp>
      <p:sp>
        <p:nvSpPr>
          <p:cNvPr descr="TextBox 359" id="676" name="Google Shape;676;p67"/>
          <p:cNvSpPr txBox="1"/>
          <p:nvPr/>
        </p:nvSpPr>
        <p:spPr>
          <a:xfrm>
            <a:off x="528550" y="3219716"/>
            <a:ext cx="3429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CCDDFF"/>
                </a:solidFill>
              </a:rPr>
              <a:t> EM2 wakeups , AI duty cycle and HRV </a:t>
            </a:r>
            <a:r>
              <a:rPr b="0" i="0" lang="en-US" sz="12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analysis </a:t>
            </a:r>
            <a:endParaRPr sz="1500"/>
          </a:p>
        </p:txBody>
      </p:sp>
      <p:sp>
        <p:nvSpPr>
          <p:cNvPr descr="Rectangle 360" id="677" name="Google Shape;677;p67"/>
          <p:cNvSpPr txBox="1"/>
          <p:nvPr/>
        </p:nvSpPr>
        <p:spPr>
          <a:xfrm>
            <a:off x="4232300" y="2857960"/>
            <a:ext cx="37035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61" id="678" name="Google Shape;678;p67"/>
          <p:cNvSpPr txBox="1"/>
          <p:nvPr/>
        </p:nvSpPr>
        <p:spPr>
          <a:xfrm>
            <a:off x="4370412" y="2888879"/>
            <a:ext cx="342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📡  BLE Event Log</a:t>
            </a:r>
            <a:endParaRPr sz="1600"/>
          </a:p>
        </p:txBody>
      </p:sp>
      <p:sp>
        <p:nvSpPr>
          <p:cNvPr descr="TextBox 362" id="679" name="Google Shape;679;p67"/>
          <p:cNvSpPr txBox="1"/>
          <p:nvPr/>
        </p:nvSpPr>
        <p:spPr>
          <a:xfrm>
            <a:off x="4370412" y="3163516"/>
            <a:ext cx="34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2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Timestamped anomaly packets transmitted via BLE 5.3 to gateway.</a:t>
            </a:r>
            <a:endParaRPr sz="1500"/>
          </a:p>
        </p:txBody>
      </p:sp>
      <p:sp>
        <p:nvSpPr>
          <p:cNvPr descr="Rectangle 363" id="680" name="Google Shape;680;p67"/>
          <p:cNvSpPr txBox="1"/>
          <p:nvPr/>
        </p:nvSpPr>
        <p:spPr>
          <a:xfrm>
            <a:off x="8074025" y="2820460"/>
            <a:ext cx="3702000" cy="841500"/>
          </a:xfrm>
          <a:prstGeom prst="rect">
            <a:avLst/>
          </a:prstGeom>
          <a:solidFill>
            <a:srgbClr val="1B236A"/>
          </a:solidFill>
          <a:ln>
            <a:noFill/>
          </a:ln>
          <a:effectLst>
            <a:outerShdw blurRad="6350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TextBox 364" id="681" name="Google Shape;681;p67"/>
          <p:cNvSpPr txBox="1"/>
          <p:nvPr/>
        </p:nvSpPr>
        <p:spPr>
          <a:xfrm>
            <a:off x="8210550" y="2851379"/>
            <a:ext cx="342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📈  ECG Trace (Clean)</a:t>
            </a:r>
            <a:endParaRPr sz="1600"/>
          </a:p>
        </p:txBody>
      </p:sp>
      <p:sp>
        <p:nvSpPr>
          <p:cNvPr descr="TextBox 365" id="682" name="Google Shape;682;p67"/>
          <p:cNvSpPr txBox="1"/>
          <p:nvPr/>
        </p:nvSpPr>
        <p:spPr>
          <a:xfrm>
            <a:off x="8210550" y="3126016"/>
            <a:ext cx="34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DDFF"/>
              </a:buClr>
              <a:buSzPts val="1100"/>
              <a:buFont typeface="Arial"/>
              <a:buNone/>
            </a:pPr>
            <a:r>
              <a:rPr b="0" i="0" lang="en-US" sz="1200" u="none">
                <a:solidFill>
                  <a:srgbClr val="CCDDFF"/>
                </a:solidFill>
                <a:latin typeface="Arial"/>
                <a:ea typeface="Arial"/>
                <a:cs typeface="Arial"/>
                <a:sym typeface="Arial"/>
              </a:rPr>
              <a:t>Artifact-free ECG waveform after NLMS filtering, visible on dashboard. ( E</a:t>
            </a:r>
            <a:r>
              <a:rPr lang="en-US" sz="1200">
                <a:solidFill>
                  <a:srgbClr val="CCDDFF"/>
                </a:solidFill>
              </a:rPr>
              <a:t>vent Driven )</a:t>
            </a:r>
            <a:endParaRPr sz="1500"/>
          </a:p>
        </p:txBody>
      </p:sp>
      <p:sp>
        <p:nvSpPr>
          <p:cNvPr descr="TextBox 366" id="683" name="Google Shape;683;p67"/>
          <p:cNvSpPr txBox="1"/>
          <p:nvPr/>
        </p:nvSpPr>
        <p:spPr>
          <a:xfrm>
            <a:off x="259494" y="3992458"/>
            <a:ext cx="580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600"/>
              <a:buFont typeface="Arial"/>
              <a:buNone/>
            </a:pPr>
            <a:r>
              <a:rPr i="1" lang="en-US" sz="19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FEASIBILITY</a:t>
            </a:r>
            <a:endParaRPr i="1" sz="17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descr="TextBox 368" id="684" name="Google Shape;684;p67"/>
          <p:cNvSpPr txBox="1"/>
          <p:nvPr/>
        </p:nvSpPr>
        <p:spPr>
          <a:xfrm>
            <a:off x="80398" y="4468846"/>
            <a:ext cx="61659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 </a:t>
            </a:r>
            <a:r>
              <a:rPr b="1" lang="en-US" sz="1500"/>
              <a:t>Hardware: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Full utilization of EFR32xG26  and RPi 4</a:t>
            </a:r>
            <a:r>
              <a:rPr lang="en-US" sz="1500"/>
              <a:t>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 </a:t>
            </a:r>
            <a:r>
              <a:rPr b="1" lang="en-US" sz="1500"/>
              <a:t>Firmware: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Leveraging Silicon Labs native SDKs and TFLite Micro libraries.</a:t>
            </a:r>
            <a:endParaRPr sz="1500">
              <a:solidFill>
                <a:srgbClr val="447BC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Risk Profile: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No custom silicon; eliminates supply chain or fabrication delays.</a:t>
            </a:r>
            <a:endParaRPr sz="1500">
              <a:solidFill>
                <a:srgbClr val="447BC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 </a:t>
            </a:r>
            <a:r>
              <a:rPr b="1" lang="en-US" sz="1500"/>
              <a:t>Viability: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Proven hardware path for a demo-ready prototype by deadline.</a:t>
            </a:r>
            <a:endParaRPr sz="1600">
              <a:solidFill>
                <a:srgbClr val="447BC4"/>
              </a:solidFill>
            </a:endParaRPr>
          </a:p>
        </p:txBody>
      </p:sp>
      <p:sp>
        <p:nvSpPr>
          <p:cNvPr descr="TextBox 369" id="685" name="Google Shape;685;p67"/>
          <p:cNvSpPr txBox="1"/>
          <p:nvPr/>
        </p:nvSpPr>
        <p:spPr>
          <a:xfrm>
            <a:off x="6679825" y="3974375"/>
            <a:ext cx="516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600"/>
              <a:buFont typeface="Arial"/>
              <a:buNone/>
            </a:pPr>
            <a:r>
              <a:rPr i="1" lang="en-US" sz="1800" u="sng">
                <a:solidFill>
                  <a:srgbClr val="1B236A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CUSTOMIZABILITY &amp; FUTURE EXPANSION</a:t>
            </a:r>
            <a:endParaRPr i="1" sz="1600" u="sng">
              <a:latin typeface="Lexend SemiBold"/>
              <a:ea typeface="Lexend SemiBold"/>
              <a:cs typeface="Lexend SemiBold"/>
              <a:sym typeface="Lexend SemiBold"/>
            </a:endParaRPr>
          </a:p>
        </p:txBody>
      </p:sp>
      <p:sp>
        <p:nvSpPr>
          <p:cNvPr descr="TextBox 371" id="686" name="Google Shape;686;p67"/>
          <p:cNvSpPr txBox="1"/>
          <p:nvPr/>
        </p:nvSpPr>
        <p:spPr>
          <a:xfrm>
            <a:off x="6546400" y="4415000"/>
            <a:ext cx="5086800" cy="27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Clinical Versatility: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Extends to respiratory monitoring (SpO2/breath-rate) </a:t>
            </a:r>
            <a:endParaRPr sz="1500">
              <a:solidFill>
                <a:srgbClr val="447BC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Industrial Safety: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Integration into Smart PPE to track cardiac strain in high-risk environments.</a:t>
            </a:r>
            <a:endParaRPr sz="1600">
              <a:solidFill>
                <a:srgbClr val="447BC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Privacy-Preserving AI:</a:t>
            </a:r>
            <a:r>
              <a:rPr lang="en-US" sz="1500"/>
              <a:t> </a:t>
            </a:r>
            <a:r>
              <a:rPr lang="en-US" sz="1500">
                <a:solidFill>
                  <a:srgbClr val="447BC4"/>
                </a:solidFill>
              </a:rPr>
              <a:t>Implementing models without exposing raw patient biometric data.</a:t>
            </a:r>
            <a:endParaRPr sz="1500">
              <a:solidFill>
                <a:srgbClr val="447BC4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/>
              <a:t>Dual-Mode Operation : </a:t>
            </a:r>
            <a:r>
              <a:rPr lang="en-US">
                <a:solidFill>
                  <a:srgbClr val="447BC4"/>
                </a:solidFill>
              </a:rPr>
              <a:t>ECG monitoring when connected, smartwatch-style tracking when detached.</a:t>
            </a:r>
            <a:endParaRPr b="1" sz="2000">
              <a:solidFill>
                <a:srgbClr val="447BC4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36A"/>
              </a:buClr>
              <a:buSzPts val="1300"/>
              <a:buFont typeface="Arial"/>
              <a:buNone/>
            </a:pPr>
            <a:r>
              <a:t/>
            </a:r>
            <a:endParaRPr sz="1600">
              <a:solidFill>
                <a:srgbClr val="447BC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oogle Shape;354;p11" id="691" name="Google Shape;691;p68"/>
          <p:cNvSpPr/>
          <p:nvPr/>
        </p:nvSpPr>
        <p:spPr>
          <a:xfrm>
            <a:off x="-425450" y="1117600"/>
            <a:ext cx="266700" cy="685800"/>
          </a:xfrm>
          <a:prstGeom prst="roundRect">
            <a:avLst>
              <a:gd fmla="val 1838" name="adj"/>
            </a:avLst>
          </a:prstGeom>
          <a:solidFill>
            <a:srgbClr val="034EA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55;p11" id="692" name="Google Shape;692;p68"/>
          <p:cNvSpPr/>
          <p:nvPr/>
        </p:nvSpPr>
        <p:spPr>
          <a:xfrm>
            <a:off x="-425450" y="19129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19226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56;p11" id="693" name="Google Shape;693;p68"/>
          <p:cNvSpPr/>
          <p:nvPr/>
        </p:nvSpPr>
        <p:spPr>
          <a:xfrm>
            <a:off x="-425450" y="2709862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57;p11" id="694" name="Google Shape;694;p68"/>
          <p:cNvSpPr/>
          <p:nvPr/>
        </p:nvSpPr>
        <p:spPr>
          <a:xfrm>
            <a:off x="-425450" y="3505200"/>
            <a:ext cx="266700" cy="685800"/>
          </a:xfrm>
          <a:prstGeom prst="roundRect">
            <a:avLst>
              <a:gd fmla="val 183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58;p11" id="695" name="Google Shape;695;p68"/>
          <p:cNvSpPr/>
          <p:nvPr/>
        </p:nvSpPr>
        <p:spPr>
          <a:xfrm>
            <a:off x="-425450" y="4300537"/>
            <a:ext cx="266700" cy="685800"/>
          </a:xfrm>
          <a:prstGeom prst="roundRect">
            <a:avLst>
              <a:gd fmla="val 1838" name="adj"/>
            </a:avLst>
          </a:prstGeom>
          <a:solidFill>
            <a:srgbClr val="F3712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59;p11" id="696" name="Google Shape;696;p68"/>
          <p:cNvSpPr/>
          <p:nvPr/>
        </p:nvSpPr>
        <p:spPr>
          <a:xfrm>
            <a:off x="-425450" y="5097462"/>
            <a:ext cx="266700" cy="685800"/>
          </a:xfrm>
          <a:prstGeom prst="roundRect">
            <a:avLst>
              <a:gd fmla="val 1838" name="adj"/>
            </a:avLst>
          </a:prstGeom>
          <a:solidFill>
            <a:srgbClr val="E4E5E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oogle Shape;360;p11" id="697" name="Google Shape;697;p68"/>
          <p:cNvSpPr txBox="1"/>
          <p:nvPr/>
        </p:nvSpPr>
        <p:spPr>
          <a:xfrm>
            <a:off x="11644312" y="6415087"/>
            <a:ext cx="263525" cy="268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Quattrocento Sans"/>
              <a:buNone/>
            </a:pPr>
            <a:fld id="{00000000-1234-1234-1234-123412341234}" type="slidenum">
              <a:rPr b="0" i="0" lang="en-US" sz="1200" u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/>
          </a:p>
        </p:txBody>
      </p:sp>
      <p:sp>
        <p:nvSpPr>
          <p:cNvPr id="698" name="Google Shape;698;p68"/>
          <p:cNvSpPr txBox="1"/>
          <p:nvPr/>
        </p:nvSpPr>
        <p:spPr>
          <a:xfrm>
            <a:off x="5926137" y="3332162"/>
            <a:ext cx="338137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68"/>
          <p:cNvSpPr txBox="1"/>
          <p:nvPr/>
        </p:nvSpPr>
        <p:spPr>
          <a:xfrm>
            <a:off x="401637" y="844550"/>
            <a:ext cx="127000" cy="1309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>
              <a:solidFill>
                <a:srgbClr val="034EA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9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7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1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0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2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5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3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8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4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1_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6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3_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5_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1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2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3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7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11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4_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8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10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9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1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5_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6_Office Theme - BLANK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2_Office Theme - Title and Content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34EA2"/>
      </a:dk1>
      <a:lt1>
        <a:srgbClr val="FFFFFF"/>
      </a:lt1>
      <a:dk2>
        <a:srgbClr val="535353"/>
      </a:dk2>
      <a:lt2>
        <a:srgbClr val="A7A7A7"/>
      </a:lt2>
      <a:accent1>
        <a:srgbClr val="33B2C1"/>
      </a:accent1>
      <a:accent2>
        <a:srgbClr val="50B848"/>
      </a:accent2>
      <a:accent3>
        <a:srgbClr val="FFFFFF"/>
      </a:accent3>
      <a:accent4>
        <a:srgbClr val="02418A"/>
      </a:accent4>
      <a:accent5>
        <a:srgbClr val="ADD5DD"/>
      </a:accent5>
      <a:accent6>
        <a:srgbClr val="48A640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