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26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30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5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28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2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24.xml"/>
  <Override ContentType="application/vnd.openxmlformats-officedocument.presentationml.slideMaster+xml" PartName="/ppt/slideMasters/slideMaster2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27.xml"/>
  <Override ContentType="application/vnd.openxmlformats-officedocument.presentationml.slideMaster+xml" PartName="/ppt/slideMasters/slideMaster22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0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24.xml"/>
  <Override ContentType="application/vnd.openxmlformats-officedocument.theme+xml" PartName="/ppt/theme/theme5.xml"/>
  <Override ContentType="application/vnd.openxmlformats-officedocument.theme+xml" PartName="/ppt/theme/theme26.xml"/>
  <Override ContentType="application/vnd.openxmlformats-officedocument.theme+xml" PartName="/ppt/theme/theme7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23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27.xml"/>
  <Override ContentType="application/vnd.openxmlformats-officedocument.theme+xml" PartName="/ppt/theme/theme14.xml"/>
  <Override ContentType="application/vnd.openxmlformats-officedocument.theme+xml" PartName="/ppt/theme/theme19.xml"/>
  <Override ContentType="application/vnd.openxmlformats-officedocument.theme+xml" PartName="/ppt/theme/theme22.xml"/>
  <Override ContentType="application/vnd.openxmlformats-officedocument.theme+xml" PartName="/ppt/theme/theme3.xml"/>
  <Override ContentType="application/vnd.openxmlformats-officedocument.theme+xml" PartName="/ppt/theme/theme31.xml"/>
  <Override ContentType="application/vnd.openxmlformats-officedocument.theme+xml" PartName="/ppt/theme/theme30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28.xml"/>
  <Override ContentType="application/vnd.openxmlformats-officedocument.theme+xml" PartName="/ppt/theme/theme21.xml"/>
  <Override ContentType="application/vnd.openxmlformats-officedocument.theme+xml" PartName="/ppt/theme/theme2.xml"/>
  <Override ContentType="application/vnd.openxmlformats-officedocument.theme+xml" PartName="/ppt/theme/theme29.xml"/>
  <Override ContentType="application/vnd.openxmlformats-officedocument.theme+xml" PartName="/ppt/theme/theme16.xml"/>
  <Override ContentType="application/vnd.openxmlformats-officedocument.theme+xml" PartName="/ppt/theme/theme25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  <p:sldMasterId id="2147483677" r:id="rId6"/>
    <p:sldMasterId id="2147483678" r:id="rId7"/>
    <p:sldMasterId id="2147483679" r:id="rId8"/>
    <p:sldMasterId id="2147483680" r:id="rId9"/>
    <p:sldMasterId id="2147483681" r:id="rId10"/>
    <p:sldMasterId id="2147483682" r:id="rId11"/>
    <p:sldMasterId id="2147483683" r:id="rId12"/>
    <p:sldMasterId id="2147483684" r:id="rId13"/>
    <p:sldMasterId id="2147483685" r:id="rId14"/>
    <p:sldMasterId id="2147483686" r:id="rId15"/>
    <p:sldMasterId id="2147483687" r:id="rId16"/>
    <p:sldMasterId id="2147483688" r:id="rId17"/>
    <p:sldMasterId id="2147483689" r:id="rId18"/>
    <p:sldMasterId id="2147483690" r:id="rId19"/>
    <p:sldMasterId id="2147483691" r:id="rId20"/>
    <p:sldMasterId id="2147483692" r:id="rId21"/>
    <p:sldMasterId id="2147483693" r:id="rId22"/>
    <p:sldMasterId id="2147483694" r:id="rId23"/>
    <p:sldMasterId id="2147483695" r:id="rId24"/>
    <p:sldMasterId id="2147483696" r:id="rId25"/>
    <p:sldMasterId id="2147483697" r:id="rId26"/>
    <p:sldMasterId id="2147483698" r:id="rId27"/>
    <p:sldMasterId id="2147483699" r:id="rId28"/>
    <p:sldMasterId id="2147483700" r:id="rId29"/>
    <p:sldMasterId id="2147483701" r:id="rId30"/>
    <p:sldMasterId id="2147483702" r:id="rId31"/>
    <p:sldMasterId id="2147483703" r:id="rId32"/>
    <p:sldMasterId id="2147483704" r:id="rId33"/>
  </p:sldMasterIdLst>
  <p:notesMasterIdLst>
    <p:notesMasterId r:id="rId34"/>
  </p:notesMasterIdLst>
  <p:sldIdLst>
    <p:sldId id="256" r:id="rId35"/>
    <p:sldId id="257" r:id="rId36"/>
    <p:sldId id="258" r:id="rId37"/>
    <p:sldId id="259" r:id="rId38"/>
    <p:sldId id="260" r:id="rId39"/>
    <p:sldId id="261" r:id="rId40"/>
    <p:sldId id="262" r:id="rId41"/>
    <p:sldId id="263" r:id="rId42"/>
    <p:sldId id="264" r:id="rId43"/>
    <p:sldId id="265" r:id="rId44"/>
    <p:sldId id="266" r:id="rId45"/>
  </p:sldIdLst>
  <p:sldSz cy="6858000" cx="12192000"/>
  <p:notesSz cx="6858000" cy="9144000"/>
  <p:embeddedFontLst>
    <p:embeddedFont>
      <p:font typeface="Roboto Serif"/>
      <p:regular r:id="rId46"/>
      <p:bold r:id="rId47"/>
      <p:italic r:id="rId48"/>
      <p:boldItalic r:id="rId49"/>
    </p:embeddedFont>
    <p:embeddedFont>
      <p:font typeface="Lexend SemiBold"/>
      <p:regular r:id="rId50"/>
      <p:bold r:id="rId51"/>
    </p:embeddedFont>
    <p:embeddedFont>
      <p:font typeface="Quattrocento Sans"/>
      <p:regular r:id="rId52"/>
      <p:bold r:id="rId53"/>
      <p:italic r:id="rId54"/>
      <p:boldItalic r:id="rId55"/>
    </p:embeddedFont>
    <p:embeddedFont>
      <p:font typeface="Lexend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6.xml"/><Relationship Id="rId42" Type="http://schemas.openxmlformats.org/officeDocument/2006/relationships/slide" Target="slides/slide8.xml"/><Relationship Id="rId41" Type="http://schemas.openxmlformats.org/officeDocument/2006/relationships/slide" Target="slides/slide7.xml"/><Relationship Id="rId44" Type="http://schemas.openxmlformats.org/officeDocument/2006/relationships/slide" Target="slides/slide10.xml"/><Relationship Id="rId43" Type="http://schemas.openxmlformats.org/officeDocument/2006/relationships/slide" Target="slides/slide9.xml"/><Relationship Id="rId46" Type="http://schemas.openxmlformats.org/officeDocument/2006/relationships/font" Target="fonts/RobotoSerif-regular.fntdata"/><Relationship Id="rId45" Type="http://schemas.openxmlformats.org/officeDocument/2006/relationships/slide" Target="slides/slide11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font" Target="fonts/RobotoSerif-italic.fntdata"/><Relationship Id="rId47" Type="http://schemas.openxmlformats.org/officeDocument/2006/relationships/font" Target="fonts/RobotoSerif-bold.fntdata"/><Relationship Id="rId49" Type="http://schemas.openxmlformats.org/officeDocument/2006/relationships/font" Target="fonts/RobotoSerif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Master" Target="slideMasters/slideMaster28.xml"/><Relationship Id="rId30" Type="http://schemas.openxmlformats.org/officeDocument/2006/relationships/slideMaster" Target="slideMasters/slideMaster27.xml"/><Relationship Id="rId33" Type="http://schemas.openxmlformats.org/officeDocument/2006/relationships/slideMaster" Target="slideMasters/slideMaster30.xml"/><Relationship Id="rId32" Type="http://schemas.openxmlformats.org/officeDocument/2006/relationships/slideMaster" Target="slideMasters/slideMaster29.xml"/><Relationship Id="rId35" Type="http://schemas.openxmlformats.org/officeDocument/2006/relationships/slide" Target="slides/slide1.xml"/><Relationship Id="rId34" Type="http://schemas.openxmlformats.org/officeDocument/2006/relationships/notesMaster" Target="notesMasters/notesMaster1.xml"/><Relationship Id="rId37" Type="http://schemas.openxmlformats.org/officeDocument/2006/relationships/slide" Target="slides/slide3.xml"/><Relationship Id="rId36" Type="http://schemas.openxmlformats.org/officeDocument/2006/relationships/slide" Target="slides/slide2.xml"/><Relationship Id="rId39" Type="http://schemas.openxmlformats.org/officeDocument/2006/relationships/slide" Target="slides/slide5.xml"/><Relationship Id="rId38" Type="http://schemas.openxmlformats.org/officeDocument/2006/relationships/slide" Target="slides/slide4.xml"/><Relationship Id="rId20" Type="http://schemas.openxmlformats.org/officeDocument/2006/relationships/slideMaster" Target="slideMasters/slideMaster17.xml"/><Relationship Id="rId22" Type="http://schemas.openxmlformats.org/officeDocument/2006/relationships/slideMaster" Target="slideMasters/slideMaster19.xml"/><Relationship Id="rId21" Type="http://schemas.openxmlformats.org/officeDocument/2006/relationships/slideMaster" Target="slideMasters/slideMaster18.xml"/><Relationship Id="rId24" Type="http://schemas.openxmlformats.org/officeDocument/2006/relationships/slideMaster" Target="slideMasters/slideMaster21.xml"/><Relationship Id="rId23" Type="http://schemas.openxmlformats.org/officeDocument/2006/relationships/slideMaster" Target="slideMasters/slideMaster20.xml"/><Relationship Id="rId26" Type="http://schemas.openxmlformats.org/officeDocument/2006/relationships/slideMaster" Target="slideMasters/slideMaster23.xml"/><Relationship Id="rId25" Type="http://schemas.openxmlformats.org/officeDocument/2006/relationships/slideMaster" Target="slideMasters/slideMaster22.xml"/><Relationship Id="rId28" Type="http://schemas.openxmlformats.org/officeDocument/2006/relationships/slideMaster" Target="slideMasters/slideMaster25.xml"/><Relationship Id="rId27" Type="http://schemas.openxmlformats.org/officeDocument/2006/relationships/slideMaster" Target="slideMasters/slideMaster24.xml"/><Relationship Id="rId29" Type="http://schemas.openxmlformats.org/officeDocument/2006/relationships/slideMaster" Target="slideMasters/slideMaster26.xml"/><Relationship Id="rId51" Type="http://schemas.openxmlformats.org/officeDocument/2006/relationships/font" Target="fonts/LexendSemiBold-bold.fntdata"/><Relationship Id="rId50" Type="http://schemas.openxmlformats.org/officeDocument/2006/relationships/font" Target="fonts/LexendSemiBold-regular.fntdata"/><Relationship Id="rId53" Type="http://schemas.openxmlformats.org/officeDocument/2006/relationships/font" Target="fonts/QuattrocentoSans-bold.fntdata"/><Relationship Id="rId52" Type="http://schemas.openxmlformats.org/officeDocument/2006/relationships/font" Target="fonts/QuattrocentoSans-regular.fntdata"/><Relationship Id="rId11" Type="http://schemas.openxmlformats.org/officeDocument/2006/relationships/slideMaster" Target="slideMasters/slideMaster8.xml"/><Relationship Id="rId55" Type="http://schemas.openxmlformats.org/officeDocument/2006/relationships/font" Target="fonts/QuattrocentoSans-boldItalic.fntdata"/><Relationship Id="rId10" Type="http://schemas.openxmlformats.org/officeDocument/2006/relationships/slideMaster" Target="slideMasters/slideMaster7.xml"/><Relationship Id="rId54" Type="http://schemas.openxmlformats.org/officeDocument/2006/relationships/font" Target="fonts/QuattrocentoSans-italic.fntdata"/><Relationship Id="rId13" Type="http://schemas.openxmlformats.org/officeDocument/2006/relationships/slideMaster" Target="slideMasters/slideMaster10.xml"/><Relationship Id="rId57" Type="http://schemas.openxmlformats.org/officeDocument/2006/relationships/font" Target="fonts/Lexend-bold.fntdata"/><Relationship Id="rId12" Type="http://schemas.openxmlformats.org/officeDocument/2006/relationships/slideMaster" Target="slideMasters/slideMaster9.xml"/><Relationship Id="rId56" Type="http://schemas.openxmlformats.org/officeDocument/2006/relationships/font" Target="fonts/Lexend-regular.fntdata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Master" Target="slideMasters/slideMaster16.xml"/><Relationship Id="rId18" Type="http://schemas.openxmlformats.org/officeDocument/2006/relationships/slideMaster" Target="slideMasters/slideMaster1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09600" y="1600200"/>
            <a:ext cx="5410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2" type="body"/>
          </p:nvPr>
        </p:nvSpPr>
        <p:spPr>
          <a:xfrm>
            <a:off x="6172200" y="1600200"/>
            <a:ext cx="5410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6" name="Google Shape;186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 rot="5400000">
            <a:off x="3467100" y="-1257300"/>
            <a:ext cx="5257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 rot="5400000">
            <a:off x="6827044" y="2102644"/>
            <a:ext cx="676751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 rot="5400000">
            <a:off x="1264444" y="-564356"/>
            <a:ext cx="6767512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1" name="Google Shape;301;p3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" name="Google Shape;326;p4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4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p4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3" name="Google Shape;353;p4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4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6" name="Google Shape;366;p4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5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5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8" name="Google Shape;398;p5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5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" name="Google Shape;414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" name="Google Shape;415;p5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5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1" name="Google Shape;431;p5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2" name="Google Shape;432;p5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3" name="Google Shape;433;p5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4" name="Google Shape;434;p5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theme" Target="../theme/theme2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theme" Target="../theme/theme3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theme" Target="../theme/theme26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9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4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3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9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0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9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0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_rels/slideMaster18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28.xml"/></Relationships>
</file>

<file path=ppt/slideMasters/_rels/slideMaster19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17.xml"/></Relationships>
</file>

<file path=ppt/slideMasters/_rels/slideMaster20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27.xml"/></Relationships>
</file>

<file path=ppt/slideMasters/_rels/slideMaster2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/Relationships>
</file>

<file path=ppt/slideMasters/_rels/slideMaster2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9.xml"/><Relationship Id="rId3" Type="http://schemas.openxmlformats.org/officeDocument/2006/relationships/theme" Target="../theme/theme30.xml"/></Relationships>
</file>

<file path=ppt/slideMasters/_rels/slideMaster2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0.xml"/><Relationship Id="rId3" Type="http://schemas.openxmlformats.org/officeDocument/2006/relationships/theme" Target="../theme/theme21.xml"/></Relationships>
</file>

<file path=ppt/slideMasters/_rels/slideMaster24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18.xml"/></Relationships>
</file>

<file path=ppt/slideMasters/_rels/slideMaster25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11.xml"/></Relationships>
</file>

<file path=ppt/slideMasters/_rels/slideMaster26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4.xml"/></Relationships>
</file>

<file path=ppt/slideMasters/_rels/slideMaster2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24.xml"/></Relationships>
</file>

<file path=ppt/slideMasters/_rels/slideMaster2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15.xml"/></Relationships>
</file>

<file path=ppt/slideMasters/_rels/slideMaster2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12.xml"/></Relationships>
</file>

<file path=ppt/slideMasters/_rels/slideMaster30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4" Type="http://schemas.openxmlformats.org/officeDocument/2006/relationships/theme" Target="../theme/theme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6" name="Google Shape;6;p1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7" name="Google Shape;7;p1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8" name="Google Shape;8;p1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9" name="Google Shape;9;p1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0" name="Google Shape;10;p1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1" name="Google Shape;11;p1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2" name="Google Shape;12;p1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21" name="Google Shape;2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23" name="Google Shape;23;p3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24" name="Google Shape;24;p3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25" name="Google Shape;25;p3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26" name="Google Shape;26;p3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27" name="Google Shape;27;p3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28" name="Google Shape;28;p3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29" name="Google Shape;29;p3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7" name="Google Shape;37;p5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8" name="Google Shape;38;p5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9" name="Google Shape;39;p5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40" name="Google Shape;40;p5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41" name="Google Shape;41;p5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42" name="Google Shape;42;p5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43" name="Google Shape;43;p5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50" name="Google Shape;50;p7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51" name="Google Shape;51;p7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52" name="Google Shape;52;p7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53" name="Google Shape;53;p7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54" name="Google Shape;54;p7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55" name="Google Shape;55;p7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57" name="Google Shape;57;p7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61" name="Google Shape;61;p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62" name="Google Shape;62;p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63" name="Google Shape;63;p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64" name="Google Shape;64;p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65" name="Google Shape;65;p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66" name="Google Shape;66;p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67" name="Google Shape;67;p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70" name="Google Shape;70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Google Shape;24;p14" id="73" name="Google Shape;73;p9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74" name="Google Shape;74;p9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75" name="Google Shape;75;p9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76" name="Google Shape;76;p9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77" name="Google Shape;77;p9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78" name="Google Shape;78;p9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79" name="Google Shape;79;p9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82" name="Google Shape;82;p1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83" name="Google Shape;83;p1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84" name="Google Shape;84;p1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85" name="Google Shape;85;p1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86" name="Google Shape;86;p1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87" name="Google Shape;87;p1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88" name="Google Shape;88;p1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97" name="Google Shape;97;p1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98" name="Google Shape;98;p1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99" name="Google Shape;99;p1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00" name="Google Shape;100;p1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01" name="Google Shape;101;p1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02" name="Google Shape;102;p1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03" name="Google Shape;103;p1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12" name="Google Shape;112;p1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13" name="Google Shape;113;p1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14" name="Google Shape;114;p1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15" name="Google Shape;115;p1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16" name="Google Shape;116;p1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17" name="Google Shape;117;p1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18" name="Google Shape;118;p1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28" name="Google Shape;128;p1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29" name="Google Shape;129;p1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30" name="Google Shape;130;p1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31" name="Google Shape;131;p1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32" name="Google Shape;132;p1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33" name="Google Shape;133;p1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34" name="Google Shape;134;p1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46" name="Google Shape;146;p1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47" name="Google Shape;147;p1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48" name="Google Shape;148;p1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49" name="Google Shape;149;p1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50" name="Google Shape;150;p1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51" name="Google Shape;151;p1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52" name="Google Shape;152;p1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18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1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60" name="Google Shape;160;p2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61" name="Google Shape;161;p2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62" name="Google Shape;162;p2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63" name="Google Shape;163;p2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64" name="Google Shape;164;p2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65" name="Google Shape;165;p2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66" name="Google Shape;166;p2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73" name="Google Shape;173;p2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74" name="Google Shape;174;p2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75" name="Google Shape;175;p2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76" name="Google Shape;176;p2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77" name="Google Shape;177;p2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78" name="Google Shape;178;p2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79" name="Google Shape;179;p2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89" name="Google Shape;189;p2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90" name="Google Shape;190;p2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91" name="Google Shape;191;p2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92" name="Google Shape;192;p2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93" name="Google Shape;193;p2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94" name="Google Shape;194;p2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95" name="Google Shape;195;p2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05" name="Google Shape;205;p2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06" name="Google Shape;206;p2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07" name="Google Shape;207;p2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08" name="Google Shape;208;p2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09" name="Google Shape;209;p2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10" name="Google Shape;210;p2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11" name="Google Shape;211;p2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2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20" name="Google Shape;220;p2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21" name="Google Shape;221;p2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22" name="Google Shape;222;p2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23" name="Google Shape;223;p2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24" name="Google Shape;224;p2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25" name="Google Shape;225;p2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26" name="Google Shape;226;p2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35" name="Google Shape;235;p3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36" name="Google Shape;236;p3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37" name="Google Shape;237;p3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38" name="Google Shape;238;p3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39" name="Google Shape;239;p3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40" name="Google Shape;240;p3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41" name="Google Shape;241;p3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48" name="Google Shape;248;p3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49" name="Google Shape;249;p3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50" name="Google Shape;250;p3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51" name="Google Shape;251;p3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52" name="Google Shape;252;p3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53" name="Google Shape;253;p3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54" name="Google Shape;254;p3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61" name="Google Shape;261;p3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62" name="Google Shape;262;p3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63" name="Google Shape;263;p3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64" name="Google Shape;264;p3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65" name="Google Shape;265;p3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66" name="Google Shape;266;p3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67" name="Google Shape;267;p3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75" name="Google Shape;275;p3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76" name="Google Shape;276;p3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77" name="Google Shape;277;p3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78" name="Google Shape;278;p3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79" name="Google Shape;279;p3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80" name="Google Shape;280;p3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81" name="Google Shape;281;p3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91" name="Google Shape;291;p3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92" name="Google Shape;292;p3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93" name="Google Shape;293;p3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94" name="Google Shape;294;p3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95" name="Google Shape;295;p3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96" name="Google Shape;296;p3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97" name="Google Shape;297;p3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03" name="Google Shape;303;p4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04" name="Google Shape;304;p4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05" name="Google Shape;305;p4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06" name="Google Shape;306;p4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07" name="Google Shape;307;p4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08" name="Google Shape;308;p4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09" name="Google Shape;309;p4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14" name="Google Shape;314;p4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15" name="Google Shape;315;p4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16" name="Google Shape;316;p4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17" name="Google Shape;317;p4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18" name="Google Shape;318;p4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19" name="Google Shape;319;p4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20" name="Google Shape;320;p4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28" name="Google Shape;328;p4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29" name="Google Shape;329;p4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30" name="Google Shape;330;p4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31" name="Google Shape;331;p4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32" name="Google Shape;332;p4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33" name="Google Shape;333;p4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34" name="Google Shape;334;p4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42" name="Google Shape;342;p4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43" name="Google Shape;343;p4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44" name="Google Shape;344;p4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45" name="Google Shape;345;p4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46" name="Google Shape;346;p4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47" name="Google Shape;347;p4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48" name="Google Shape;348;p4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55" name="Google Shape;355;p4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56" name="Google Shape;356;p4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57" name="Google Shape;357;p4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58" name="Google Shape;358;p4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59" name="Google Shape;359;p4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60" name="Google Shape;360;p4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61" name="Google Shape;361;p4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368" name="Google Shape;368;p5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369" name="Google Shape;36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370" name="Google Shape;370;p5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371" name="Google Shape;371;p5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372" name="Google Shape;372;p5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373" name="Google Shape;373;p5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374" name="Google Shape;374;p5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375" name="Google Shape;375;p5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376" name="Google Shape;376;p5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0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8" name="Google Shape;378;p5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384" name="Google Shape;384;p5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385" name="Google Shape;385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386" name="Google Shape;386;p5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387" name="Google Shape;387;p5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388" name="Google Shape;388;p5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389" name="Google Shape;389;p5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390" name="Google Shape;390;p5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391" name="Google Shape;391;p5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392" name="Google Shape;392;p5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2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4" name="Google Shape;394;p5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400" name="Google Shape;400;p5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401" name="Google Shape;401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402" name="Google Shape;402;p5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403" name="Google Shape;403;p5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404" name="Google Shape;404;p5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405" name="Google Shape;405;p5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406" name="Google Shape;406;p5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407" name="Google Shape;407;p5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408" name="Google Shape;408;p5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4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0" name="Google Shape;410;p5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417" name="Google Shape;417;p5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418" name="Google Shape;41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419" name="Google Shape;419;p5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420" name="Google Shape;420;p5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421" name="Google Shape;421;p5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422" name="Google Shape;422;p5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423" name="Google Shape;423;p5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424" name="Google Shape;424;p5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425" name="Google Shape;425;p5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6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7" name="Google Shape;427;p5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mailto:kedarnayak360@gmail.com" TargetMode="External"/><Relationship Id="rId5" Type="http://schemas.openxmlformats.org/officeDocument/2006/relationships/hyperlink" Target="mailto:Namdar.mehdi14@gmail.com" TargetMode="External"/><Relationship Id="rId6" Type="http://schemas.openxmlformats.org/officeDocument/2006/relationships/hyperlink" Target="mailto:patelpal264@gmail.com" TargetMode="External"/><Relationship Id="rId7" Type="http://schemas.openxmlformats.org/officeDocument/2006/relationships/hyperlink" Target="mailto:Kartikgautam4004@gmail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41;p1" id="439" name="Google Shape;43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2;p1" id="440" name="Google Shape;440;p58"/>
          <p:cNvSpPr txBox="1"/>
          <p:nvPr/>
        </p:nvSpPr>
        <p:spPr>
          <a:xfrm>
            <a:off x="696912" y="2747962"/>
            <a:ext cx="10985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E86514"/>
                </a:solidFill>
                <a:latin typeface="Arial"/>
                <a:ea typeface="Arial"/>
                <a:cs typeface="Arial"/>
                <a:sym typeface="Arial"/>
              </a:rPr>
              <a:t>Tarang</a:t>
            </a:r>
            <a:endParaRPr b="1" i="0" sz="5400" u="none">
              <a:solidFill>
                <a:srgbClr val="E86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5400"/>
              <a:buFont typeface="Arial"/>
              <a:buNone/>
            </a:pPr>
            <a:r>
              <a:rPr lang="en-US" sz="2100">
                <a:solidFill>
                  <a:srgbClr val="F37121"/>
                </a:solidFill>
              </a:rPr>
              <a:t> </a:t>
            </a:r>
            <a:r>
              <a:rPr lang="en-US" sz="2500">
                <a:solidFill>
                  <a:srgbClr val="F37121"/>
                </a:solidFill>
              </a:rPr>
              <a:t>Heart Intelligence In Motion</a:t>
            </a:r>
            <a:endParaRPr b="1" sz="2800">
              <a:solidFill>
                <a:srgbClr val="F37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441" name="Google Shape;441;p58"/>
          <p:cNvGrpSpPr/>
          <p:nvPr/>
        </p:nvGrpSpPr>
        <p:grpSpPr>
          <a:xfrm>
            <a:off x="9791700" y="5740400"/>
            <a:ext cx="2525712" cy="485775"/>
            <a:chOff x="0" y="0"/>
            <a:chExt cx="2524554" cy="485041"/>
          </a:xfrm>
        </p:grpSpPr>
        <p:sp>
          <p:nvSpPr>
            <p:cNvPr descr="Google Shape;244;p1" id="442" name="Google Shape;442;p58"/>
            <p:cNvSpPr/>
            <p:nvPr/>
          </p:nvSpPr>
          <p:spPr>
            <a:xfrm>
              <a:off x="0" y="0"/>
              <a:ext cx="2180872" cy="485041"/>
            </a:xfrm>
            <a:prstGeom prst="roundRect">
              <a:avLst>
                <a:gd fmla="val 10800" name="adj"/>
              </a:avLst>
            </a:prstGeom>
            <a:solidFill>
              <a:srgbClr val="F37121">
                <a:alpha val="20000"/>
              </a:srgbClr>
            </a:solidFill>
            <a:ln cap="flat" cmpd="sng" w="12700">
              <a:solidFill>
                <a:srgbClr val="F371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Google Shape;245;p1" id="443" name="Google Shape;443;p58"/>
            <p:cNvSpPr txBox="1"/>
            <p:nvPr/>
          </p:nvSpPr>
          <p:spPr>
            <a:xfrm>
              <a:off x="151135" y="75328"/>
              <a:ext cx="2373419" cy="334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Smart Healthcare </a:t>
              </a:r>
              <a:endParaRPr/>
            </a:p>
          </p:txBody>
        </p:sp>
      </p:grpSp>
      <p:sp>
        <p:nvSpPr>
          <p:cNvPr descr="Google Shape;246;p1" id="444" name="Google Shape;444;p5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47;p1" id="445" name="Google Shape;445;p5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48;p1" id="446" name="Google Shape;446;p5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49;p1" id="447" name="Google Shape;447;p5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0;p1" id="448" name="Google Shape;448;p5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1;p1" id="449" name="Google Shape;449;p5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2;p1" id="450" name="Google Shape;450;p58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253;p1" id="451" name="Google Shape;451;p58"/>
          <p:cNvSpPr txBox="1"/>
          <p:nvPr/>
        </p:nvSpPr>
        <p:spPr>
          <a:xfrm>
            <a:off x="601662" y="4841875"/>
            <a:ext cx="109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E86514"/>
                </a:solidFill>
              </a:rPr>
              <a:t>  </a:t>
            </a:r>
            <a:r>
              <a:rPr b="1" i="0" lang="en-US" sz="2800" u="none">
                <a:solidFill>
                  <a:srgbClr val="E86514"/>
                </a:solidFill>
                <a:latin typeface="Arial"/>
                <a:ea typeface="Arial"/>
                <a:cs typeface="Arial"/>
                <a:sym typeface="Arial"/>
              </a:rPr>
              <a:t>By Team Ocelleon</a:t>
            </a:r>
            <a:endParaRPr/>
          </a:p>
        </p:txBody>
      </p:sp>
      <p:pic>
        <p:nvPicPr>
          <p:cNvPr descr="Google Shape;254;p1" id="452" name="Google Shape;45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6262" y="261937"/>
            <a:ext cx="4929187" cy="213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60;p2" id="457" name="Google Shape;45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61;p2" id="458" name="Google Shape;458;p59"/>
          <p:cNvSpPr txBox="1"/>
          <p:nvPr/>
        </p:nvSpPr>
        <p:spPr>
          <a:xfrm>
            <a:off x="571500" y="190500"/>
            <a:ext cx="10423525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content</a:t>
            </a:r>
            <a:endParaRPr/>
          </a:p>
        </p:txBody>
      </p:sp>
      <p:sp>
        <p:nvSpPr>
          <p:cNvPr descr="Google Shape;262;p2" id="459" name="Google Shape;459;p59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263;p2" id="460" name="Google Shape;460;p59"/>
          <p:cNvSpPr txBox="1"/>
          <p:nvPr/>
        </p:nvSpPr>
        <p:spPr>
          <a:xfrm>
            <a:off x="438150" y="1077912"/>
            <a:ext cx="104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2200"/>
              <a:buFont typeface="Arial"/>
              <a:buNone/>
            </a:pPr>
            <a:r>
              <a:rPr b="1" i="1" lang="en-US" sz="2400" u="sng">
                <a:solidFill>
                  <a:srgbClr val="1B236A"/>
                </a:solidFill>
                <a:latin typeface="Roboto Serif"/>
                <a:ea typeface="Roboto Serif"/>
                <a:cs typeface="Roboto Serif"/>
                <a:sym typeface="Roboto Serif"/>
              </a:rPr>
              <a:t>Contents</a:t>
            </a:r>
            <a:endParaRPr b="1" i="1" sz="1600" u="sng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descr="Google Shape;264;p2" id="461" name="Google Shape;461;p59"/>
          <p:cNvSpPr txBox="1"/>
          <p:nvPr/>
        </p:nvSpPr>
        <p:spPr>
          <a:xfrm>
            <a:off x="438150" y="1492250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1.   Introduction  ....................  3</a:t>
            </a:r>
            <a:endParaRPr sz="1600"/>
          </a:p>
        </p:txBody>
      </p:sp>
      <p:sp>
        <p:nvSpPr>
          <p:cNvPr descr="Google Shape;265;p2" id="462" name="Google Shape;462;p59"/>
          <p:cNvSpPr txBox="1"/>
          <p:nvPr/>
        </p:nvSpPr>
        <p:spPr>
          <a:xfrm>
            <a:off x="438150" y="1965325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2.   Objective  (Problem Statement, Solution, User Flow)  ....................  4</a:t>
            </a:r>
            <a:endParaRPr sz="1600"/>
          </a:p>
        </p:txBody>
      </p:sp>
      <p:sp>
        <p:nvSpPr>
          <p:cNvPr descr="Google Shape;266;p2" id="463" name="Google Shape;463;p59"/>
          <p:cNvSpPr txBox="1"/>
          <p:nvPr/>
        </p:nvSpPr>
        <p:spPr>
          <a:xfrm>
            <a:off x="438150" y="2514600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3.   System Diagram  (Components, Wireless Technology, Edge AI)  ....................  5</a:t>
            </a:r>
            <a:endParaRPr sz="1600"/>
          </a:p>
        </p:txBody>
      </p:sp>
      <p:sp>
        <p:nvSpPr>
          <p:cNvPr descr="Google Shape;267;p2" id="464" name="Google Shape;464;p59"/>
          <p:cNvSpPr txBox="1"/>
          <p:nvPr/>
        </p:nvSpPr>
        <p:spPr>
          <a:xfrm>
            <a:off x="438150" y="3062287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4.   Resource Allocation  (Human Resources, Equipment &amp; Tools)  ....................  6</a:t>
            </a:r>
            <a:endParaRPr sz="1600"/>
          </a:p>
        </p:txBody>
      </p:sp>
      <p:sp>
        <p:nvSpPr>
          <p:cNvPr descr="Google Shape;268;p2" id="465" name="Google Shape;465;p59"/>
          <p:cNvSpPr txBox="1"/>
          <p:nvPr/>
        </p:nvSpPr>
        <p:spPr>
          <a:xfrm>
            <a:off x="438150" y="3611562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5.   Project Milestones  (Goals, Timeline)  ....................  7</a:t>
            </a:r>
            <a:endParaRPr sz="1600"/>
          </a:p>
        </p:txBody>
      </p:sp>
      <p:sp>
        <p:nvSpPr>
          <p:cNvPr descr="Google Shape;269;p2" id="466" name="Google Shape;466;p59"/>
          <p:cNvSpPr txBox="1"/>
          <p:nvPr/>
        </p:nvSpPr>
        <p:spPr>
          <a:xfrm>
            <a:off x="438150" y="4159250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6.   Work Process  (Meetings, Tracking, AI Pipeline)  ....................  8</a:t>
            </a:r>
            <a:endParaRPr sz="1600"/>
          </a:p>
        </p:txBody>
      </p:sp>
      <p:sp>
        <p:nvSpPr>
          <p:cNvPr descr="TextBox 269" id="467" name="Google Shape;467;p59"/>
          <p:cNvSpPr txBox="1"/>
          <p:nvPr/>
        </p:nvSpPr>
        <p:spPr>
          <a:xfrm>
            <a:off x="438150" y="4708525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7.   Risk Management  (Forecasted Risks, Mitigation Actions)  ....................  9</a:t>
            </a:r>
            <a:endParaRPr sz="1600"/>
          </a:p>
        </p:txBody>
      </p:sp>
      <p:sp>
        <p:nvSpPr>
          <p:cNvPr descr="TextBox 270" id="468" name="Google Shape;468;p59"/>
          <p:cNvSpPr txBox="1"/>
          <p:nvPr/>
        </p:nvSpPr>
        <p:spPr>
          <a:xfrm>
            <a:off x="438150" y="5229225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8.   Additional Information  (Outputs, Feasibility, Customizability)  ....................  10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275;p3" id="473" name="Google Shape;473;p60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descr="Google Shape;276;p3" id="474" name="Google Shape;474;p60"/>
          <p:cNvSpPr txBox="1"/>
          <p:nvPr/>
        </p:nvSpPr>
        <p:spPr>
          <a:xfrm>
            <a:off x="11755100" y="6415087"/>
            <a:ext cx="18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5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500"/>
          </a:p>
        </p:txBody>
      </p:sp>
      <p:sp>
        <p:nvSpPr>
          <p:cNvPr descr="Google Shape;277;p3" id="475" name="Google Shape;475;p60"/>
          <p:cNvSpPr txBox="1"/>
          <p:nvPr/>
        </p:nvSpPr>
        <p:spPr>
          <a:xfrm>
            <a:off x="381025" y="1100637"/>
            <a:ext cx="113379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Name: Ocelleon   </a:t>
            </a:r>
            <a:endParaRPr i="0" sz="1700" u="none">
              <a:solidFill>
                <a:srgbClr val="447BC4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Motto: "Accuracy that stays in motion."   </a:t>
            </a:r>
            <a:endParaRPr i="0" sz="1700" u="none">
              <a:solidFill>
                <a:srgbClr val="447BC4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Size:  4 Members  </a:t>
            </a:r>
            <a:endParaRPr i="0" sz="1700" u="none">
              <a:solidFill>
                <a:srgbClr val="447BC4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Lead:  Kedar Nayak</a:t>
            </a:r>
            <a:endParaRPr i="0" sz="1700" u="none">
              <a:solidFill>
                <a:srgbClr val="000000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Competition:  IoT Challenge 2026 </a:t>
            </a:r>
            <a:r>
              <a:rPr lang="en-US" sz="1700">
                <a:solidFill>
                  <a:srgbClr val="447BC4"/>
                </a:solidFill>
              </a:rPr>
              <a:t>-</a:t>
            </a:r>
            <a:r>
              <a:rPr i="0" lang="en-US" sz="1700" u="none">
                <a:solidFill>
                  <a:srgbClr val="447BC4"/>
                </a:solidFill>
              </a:rPr>
              <a:t> Smart Healthcare with Edge AI</a:t>
            </a:r>
            <a:endParaRPr sz="1700"/>
          </a:p>
        </p:txBody>
      </p:sp>
      <p:pic>
        <p:nvPicPr>
          <p:cNvPr descr="Google Shape;278;p3" id="476" name="Google Shape;47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79;p3" id="477" name="Google Shape;477;p60"/>
          <p:cNvSpPr txBox="1"/>
          <p:nvPr/>
        </p:nvSpPr>
        <p:spPr>
          <a:xfrm>
            <a:off x="427050" y="3025425"/>
            <a:ext cx="5442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0477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Kedar Nayak</a:t>
            </a:r>
            <a:endParaRPr b="1" i="0" sz="1600" u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1747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System Architect · Hardware MVP · Power </a:t>
            </a:r>
            <a:r>
              <a:rPr lang="en-US" sz="1600">
                <a:solidFill>
                  <a:srgbClr val="447BC4"/>
                </a:solidFill>
              </a:rPr>
              <a:t>Optimization</a:t>
            </a:r>
            <a:r>
              <a:rPr i="0" lang="en-US" sz="1600" u="none">
                <a:solidFill>
                  <a:srgbClr val="447BC4"/>
                </a:solidFill>
              </a:rPr>
              <a:t> </a:t>
            </a:r>
            <a:endParaRPr i="0" sz="1600" u="none">
              <a:solidFill>
                <a:srgbClr val="000000"/>
              </a:solidFill>
            </a:endParaRPr>
          </a:p>
          <a:p>
            <a:pPr indent="-12382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Email : </a:t>
            </a:r>
            <a:r>
              <a:rPr i="0" lang="en-US" sz="1600" u="sng">
                <a:solidFill>
                  <a:schemeClr val="hlink"/>
                </a:solidFill>
                <a:hlinkClick r:id="rId4"/>
              </a:rPr>
              <a:t>kedarnayak360@gmail.com</a:t>
            </a:r>
            <a:endParaRPr sz="1600">
              <a:solidFill>
                <a:srgbClr val="447BC4"/>
              </a:solidFill>
            </a:endParaRPr>
          </a:p>
          <a:p>
            <a:pPr indent="-12382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lang="en-US" sz="1600">
                <a:solidFill>
                  <a:srgbClr val="447BC4"/>
                </a:solidFill>
              </a:rPr>
              <a:t>B.Tech in E&amp;I 3rd Year , Nirma University </a:t>
            </a:r>
            <a:endParaRPr sz="1600"/>
          </a:p>
          <a:p>
            <a:pPr indent="-12382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PRS + LDMA zero-CPU pipeline, EM2 power optimization, power efficiency architecture 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descr="Google Shape;280;p3" id="478" name="Google Shape;478;p60"/>
          <p:cNvSpPr txBox="1"/>
          <p:nvPr/>
        </p:nvSpPr>
        <p:spPr>
          <a:xfrm>
            <a:off x="427050" y="2570937"/>
            <a:ext cx="1133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2000"/>
              <a:buFont typeface="Arial"/>
              <a:buNone/>
            </a:pPr>
            <a:r>
              <a:rPr b="1" i="1" lang="en-US" sz="2100" u="sng">
                <a:solidFill>
                  <a:srgbClr val="1B236A"/>
                </a:solidFill>
                <a:latin typeface="Roboto Serif"/>
                <a:ea typeface="Roboto Serif"/>
                <a:cs typeface="Roboto Serif"/>
                <a:sym typeface="Roboto Serif"/>
              </a:rPr>
              <a:t>Team  Members</a:t>
            </a:r>
            <a:endParaRPr b="1" i="1" sz="2100" u="sng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descr="Google Shape;281;p3" id="479" name="Google Shape;479;p60"/>
          <p:cNvSpPr txBox="1"/>
          <p:nvPr/>
        </p:nvSpPr>
        <p:spPr>
          <a:xfrm>
            <a:off x="6239950" y="4706575"/>
            <a:ext cx="544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79375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400"/>
              <a:buFont typeface="Arial"/>
              <a:buNone/>
            </a:pPr>
            <a:r>
              <a:t/>
            </a:r>
            <a:endParaRPr b="1" i="0" sz="1500" u="none">
              <a:solidFill>
                <a:srgbClr val="1B23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</a:t>
            </a:r>
            <a:r>
              <a:rPr b="1" lang="en-US" sz="1600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Mohammad Mehdi Namdar</a:t>
            </a:r>
            <a:endParaRPr b="1" i="0" sz="1600" u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9525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 AI / ML · Signal Processing · Edge Intelligence</a:t>
            </a:r>
            <a:endParaRPr i="0" sz="1600" u="none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Email :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Namdar.mehdi14@gmail.com</a:t>
            </a:r>
            <a:r>
              <a:rPr lang="en-US" sz="1600">
                <a:solidFill>
                  <a:srgbClr val="447BC4"/>
                </a:solidFill>
              </a:rPr>
              <a:t> 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lang="en-US" sz="1600">
                <a:solidFill>
                  <a:srgbClr val="447BC4"/>
                </a:solidFill>
              </a:rPr>
              <a:t>B.Tech in E&amp;I 3rd Year, NIrma University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NLMS adaptive filter, 1D-CNN model training, Int8 quantization, TFLite Micro deployment</a:t>
            </a:r>
            <a:endParaRPr sz="16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descr="Google Shape;282;p3" id="480" name="Google Shape;480;p60"/>
          <p:cNvSpPr txBox="1"/>
          <p:nvPr/>
        </p:nvSpPr>
        <p:spPr>
          <a:xfrm>
            <a:off x="381000" y="4937575"/>
            <a:ext cx="5786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079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Pal Patel</a:t>
            </a:r>
            <a:endParaRPr b="1" i="0" sz="17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206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 Hardware Design · Dashboard · Optimization</a:t>
            </a:r>
            <a:endParaRPr sz="1600"/>
          </a:p>
          <a:p>
            <a:pPr indent="-1206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Email : </a:t>
            </a:r>
            <a:r>
              <a:rPr i="0" lang="en-US" sz="1600" u="sng">
                <a:solidFill>
                  <a:schemeClr val="hlink"/>
                </a:solidFill>
                <a:hlinkClick r:id="rId6"/>
              </a:rPr>
              <a:t>patelpal264@gmail.com</a:t>
            </a:r>
            <a:endParaRPr sz="1600">
              <a:solidFill>
                <a:srgbClr val="447BC4"/>
              </a:solidFill>
            </a:endParaRPr>
          </a:p>
          <a:p>
            <a:pPr indent="-1206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lang="en-US" sz="1600">
                <a:solidFill>
                  <a:srgbClr val="447BC4"/>
                </a:solidFill>
              </a:rPr>
              <a:t>B.Tech in E&amp;I 3rd Year, NIrma University</a:t>
            </a:r>
            <a:endParaRPr sz="1600"/>
          </a:p>
          <a:p>
            <a:pPr indent="-12700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PCB integration, AD8422 AFE circuit, dry electrode interface, clinical UI visualization</a:t>
            </a:r>
            <a:endParaRPr sz="1600"/>
          </a:p>
        </p:txBody>
      </p:sp>
      <p:sp>
        <p:nvSpPr>
          <p:cNvPr descr="Google Shape;283;p3" id="481" name="Google Shape;481;p60"/>
          <p:cNvSpPr txBox="1"/>
          <p:nvPr/>
        </p:nvSpPr>
        <p:spPr>
          <a:xfrm>
            <a:off x="6239975" y="3025425"/>
            <a:ext cx="5144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Kartik Gautam</a:t>
            </a:r>
            <a:endParaRPr b="1" i="0" sz="1600" u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9525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 Hardware Integration · BLE &amp; Sensor </a:t>
            </a:r>
            <a:r>
              <a:rPr lang="en-US" sz="1600">
                <a:solidFill>
                  <a:srgbClr val="447BC4"/>
                </a:solidFill>
              </a:rPr>
              <a:t>F</a:t>
            </a:r>
            <a:r>
              <a:rPr i="0" lang="en-US" sz="1600" u="none">
                <a:solidFill>
                  <a:srgbClr val="447BC4"/>
                </a:solidFill>
              </a:rPr>
              <a:t>usion</a:t>
            </a:r>
            <a:endParaRPr i="0" sz="1600" u="none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Email : </a:t>
            </a:r>
            <a:r>
              <a:rPr lang="en-US" sz="1600" u="sng">
                <a:solidFill>
                  <a:schemeClr val="hlink"/>
                </a:solidFill>
                <a:hlinkClick r:id="rId7"/>
              </a:rPr>
              <a:t>kartikgautam4004@gmail.com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lang="en-US" sz="1600">
                <a:solidFill>
                  <a:srgbClr val="447BC4"/>
                </a:solidFill>
              </a:rPr>
              <a:t>B.Tech in E&amp;I 3rd Year, NIrma University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MAX30102 PPG, MPU6050 IMU wiring, BLE 5.3 stack, Raspberry Pi gateway, telemetry stack</a:t>
            </a:r>
            <a:endParaRPr sz="16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291;p4" id="486" name="Google Shape;486;p61"/>
          <p:cNvSpPr txBox="1"/>
          <p:nvPr>
            <p:ph type="title"/>
          </p:nvPr>
        </p:nvSpPr>
        <p:spPr>
          <a:xfrm>
            <a:off x="156037" y="148438"/>
            <a:ext cx="105156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</p:txBody>
      </p:sp>
      <p:sp>
        <p:nvSpPr>
          <p:cNvPr descr="Google Shape;292;p4" id="487" name="Google Shape;487;p61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293;p4" id="488" name="Google Shape;488;p61"/>
          <p:cNvSpPr txBox="1"/>
          <p:nvPr/>
        </p:nvSpPr>
        <p:spPr>
          <a:xfrm>
            <a:off x="156025" y="1033225"/>
            <a:ext cx="5704500" cy="6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50" u="sng">
                <a:solidFill>
                  <a:srgbClr val="151657"/>
                </a:solidFill>
                <a:latin typeface="Roboto Serif"/>
                <a:ea typeface="Roboto Serif"/>
                <a:cs typeface="Roboto Serif"/>
                <a:sym typeface="Roboto Serif"/>
              </a:rPr>
              <a:t>PROBLEM  STATEMENT</a:t>
            </a:r>
            <a:endParaRPr b="1" i="1" sz="1850" u="sng">
              <a:solidFill>
                <a:srgbClr val="151657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A40916"/>
                </a:solidFill>
                <a:latin typeface="Comic Sans MS"/>
                <a:ea typeface="Comic Sans MS"/>
                <a:cs typeface="Comic Sans MS"/>
                <a:sym typeface="Comic Sans MS"/>
              </a:rPr>
              <a:t>"Current wearables fail exactly when patients need them most."</a:t>
            </a:r>
            <a:endParaRPr i="1" sz="1700">
              <a:solidFill>
                <a:srgbClr val="A4091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665B7"/>
                </a:solidFill>
              </a:rPr>
              <a:t>▸  ECG &amp; PPG signals degrade up to 60% during motion - accurate diagnosis becomes impossible.</a:t>
            </a:r>
            <a:endParaRPr sz="17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665B7"/>
                </a:solidFill>
              </a:rPr>
              <a:t>▸  ~80% of remote cardiac alerts are false positives </a:t>
            </a:r>
            <a:endParaRPr sz="17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665B7"/>
                </a:solidFill>
              </a:rPr>
              <a:t>▸  Smartwatches offer 1–5 day battery life &amp; </a:t>
            </a:r>
            <a:r>
              <a:rPr lang="en-US" sz="1700">
                <a:solidFill>
                  <a:srgbClr val="3665B7"/>
                </a:solidFill>
              </a:rPr>
              <a:t>No clinical-grade reliability </a:t>
            </a:r>
            <a:endParaRPr sz="17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665B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1" lang="en-US" sz="1750" u="sng">
                <a:solidFill>
                  <a:srgbClr val="151657"/>
                </a:solidFill>
                <a:latin typeface="Roboto Serif"/>
                <a:ea typeface="Roboto Serif"/>
                <a:cs typeface="Roboto Serif"/>
                <a:sym typeface="Roboto Serif"/>
              </a:rPr>
              <a:t>TARANG  SOLUTION</a:t>
            </a:r>
            <a:endParaRPr b="1" i="1" sz="1750" u="sng">
              <a:solidFill>
                <a:srgbClr val="151657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135A28"/>
                </a:solidFill>
                <a:latin typeface="Comic Sans MS"/>
                <a:ea typeface="Comic Sans MS"/>
                <a:cs typeface="Comic Sans MS"/>
                <a:sym typeface="Comic Sans MS"/>
              </a:rPr>
              <a:t>"</a:t>
            </a:r>
            <a:r>
              <a:rPr i="1" lang="en-US" sz="1700">
                <a:solidFill>
                  <a:srgbClr val="135A28"/>
                </a:solidFill>
                <a:latin typeface="Comic Sans MS"/>
                <a:ea typeface="Comic Sans MS"/>
                <a:cs typeface="Comic Sans MS"/>
                <a:sym typeface="Comic Sans MS"/>
              </a:rPr>
              <a:t>AI at the edge. Not after the cloud."</a:t>
            </a:r>
            <a:endParaRPr i="1" sz="1700">
              <a:solidFill>
                <a:srgbClr val="135A28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✔  Clean ECG even during motion -  IMU-assisted 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✔  Zero false-alarm noise -  on-device 1D-CNN   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✔  30+ day battery life -  PRS + LDMA zero-CPU autonomous sensing </a:t>
            </a:r>
            <a:r>
              <a:rPr lang="en-US">
                <a:solidFill>
                  <a:srgbClr val="3665B7"/>
                </a:solidFill>
              </a:rPr>
              <a:t> </a:t>
            </a:r>
            <a:r>
              <a:rPr lang="en-US">
                <a:solidFill>
                  <a:srgbClr val="3665B7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</a:t>
            </a:r>
            <a:r>
              <a:rPr lang="en-US">
                <a:solidFill>
                  <a:srgbClr val="3665B7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</a:t>
            </a:r>
            <a:endParaRPr sz="1900">
              <a:solidFill>
                <a:srgbClr val="3665B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665B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3665B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Google Shape;294;p4" id="489" name="Google Shape;48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1"/>
          <p:cNvSpPr/>
          <p:nvPr/>
        </p:nvSpPr>
        <p:spPr>
          <a:xfrm>
            <a:off x="10383625" y="6327925"/>
            <a:ext cx="1173300" cy="16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1"/>
          <p:cNvSpPr/>
          <p:nvPr/>
        </p:nvSpPr>
        <p:spPr>
          <a:xfrm>
            <a:off x="9734825" y="6300300"/>
            <a:ext cx="1306200" cy="26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1"/>
          <p:cNvSpPr txBox="1"/>
          <p:nvPr/>
        </p:nvSpPr>
        <p:spPr>
          <a:xfrm>
            <a:off x="8103625" y="952575"/>
            <a:ext cx="3453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rPr b="1" lang="en-US" sz="1800" u="sng">
                <a:solidFill>
                  <a:srgbClr val="1B236A"/>
                </a:solidFill>
              </a:rPr>
              <a:t>USER FLOW</a:t>
            </a:r>
            <a:endParaRPr u="sng"/>
          </a:p>
        </p:txBody>
      </p:sp>
      <p:pic>
        <p:nvPicPr>
          <p:cNvPr id="493" name="Google Shape;49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1775" y="5396011"/>
            <a:ext cx="3453300" cy="193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0525" y="952575"/>
            <a:ext cx="6264500" cy="62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1"/>
          <p:cNvSpPr/>
          <p:nvPr/>
        </p:nvSpPr>
        <p:spPr>
          <a:xfrm>
            <a:off x="4512075" y="7085675"/>
            <a:ext cx="638100" cy="268200"/>
          </a:xfrm>
          <a:prstGeom prst="rect">
            <a:avLst/>
          </a:prstGeom>
          <a:solidFill>
            <a:srgbClr val="F0F4FF"/>
          </a:solidFill>
          <a:ln cap="flat" cmpd="sng" w="9525">
            <a:solidFill>
              <a:srgbClr val="F0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1"/>
          <p:cNvSpPr/>
          <p:nvPr/>
        </p:nvSpPr>
        <p:spPr>
          <a:xfrm>
            <a:off x="10775625" y="6918900"/>
            <a:ext cx="1609500" cy="377100"/>
          </a:xfrm>
          <a:prstGeom prst="rect">
            <a:avLst/>
          </a:prstGeom>
          <a:solidFill>
            <a:srgbClr val="F0F4FF"/>
          </a:solidFill>
          <a:ln cap="flat" cmpd="sng" w="9525">
            <a:solidFill>
              <a:srgbClr val="F0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00;p5" id="501" name="Google Shape;501;p62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Diagram</a:t>
            </a:r>
            <a:endParaRPr/>
          </a:p>
        </p:txBody>
      </p:sp>
      <p:sp>
        <p:nvSpPr>
          <p:cNvPr descr="Google Shape;301;p5" id="502" name="Google Shape;502;p62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pic>
        <p:nvPicPr>
          <p:cNvPr descr="Google Shape;303;p5" id="503" name="Google Shape;50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26" y="1019080"/>
            <a:ext cx="8408001" cy="58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2"/>
          <p:cNvSpPr txBox="1"/>
          <p:nvPr/>
        </p:nvSpPr>
        <p:spPr>
          <a:xfrm>
            <a:off x="8713165" y="1019072"/>
            <a:ext cx="35205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3665B7"/>
                </a:solidFill>
                <a:latin typeface="Trebuchet MS"/>
                <a:ea typeface="Trebuchet MS"/>
                <a:cs typeface="Trebuchet MS"/>
                <a:sym typeface="Trebuchet MS"/>
              </a:rPr>
              <a:t>Key Specs </a:t>
            </a:r>
            <a:endParaRPr b="1" sz="1650" u="sng">
              <a:solidFill>
                <a:srgbClr val="3665B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EFR32MG26 SoC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Multi-Sensor Fusion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Hardware MVP AI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Edge NLMS Filtering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1D-CNN Arrhythmia Detection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Secure Vault High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BLE 5.3 Event Telemetry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30+ Day Battery (EM2)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PRS/LDMA Zero-CPU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900"/>
              <a:buFont typeface="Arial"/>
              <a:buNone/>
            </a:pPr>
            <a:r>
              <a:t/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06" name="Google Shape;506;p62"/>
          <p:cNvSpPr/>
          <p:nvPr/>
        </p:nvSpPr>
        <p:spPr>
          <a:xfrm>
            <a:off x="7230897" y="4345502"/>
            <a:ext cx="4813200" cy="2307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★  WIRELESS: BLE 5.3  |  Encrypted,       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     event-driven, low-power.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★  EDGE AI: MVP hardware accelerator</a:t>
            </a:r>
            <a:r>
              <a:rPr b="1" lang="en-US" sz="1700">
                <a:solidFill>
                  <a:srgbClr val="E86514"/>
                </a:solidFill>
              </a:rPr>
              <a:t>  </a:t>
            </a:r>
            <a:r>
              <a:rPr b="1" lang="en-US" sz="1700">
                <a:solidFill>
                  <a:srgbClr val="E86514"/>
                </a:solidFill>
              </a:rPr>
              <a:t>| 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     no cloud real-time    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900"/>
              <a:buFont typeface="Arial"/>
              <a:buNone/>
            </a:pPr>
            <a:r>
              <a:rPr b="1" lang="en-US" sz="1700">
                <a:solidFill>
                  <a:srgbClr val="E86514"/>
                </a:solidFill>
              </a:rPr>
              <a:t>★  ZERO-CPU: PRS + LDMA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900"/>
              <a:buFont typeface="Arial"/>
              <a:buNone/>
            </a:pPr>
            <a:r>
              <a:rPr b="1" lang="en-US" sz="1700">
                <a:solidFill>
                  <a:srgbClr val="E86514"/>
                </a:solidFill>
              </a:rPr>
              <a:t>     autonomous  pipeline | &gt;99% EM2 sleep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09;p6" id="511" name="Google Shape;511;p63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Allocation</a:t>
            </a:r>
            <a:endParaRPr/>
          </a:p>
        </p:txBody>
      </p:sp>
      <p:sp>
        <p:nvSpPr>
          <p:cNvPr descr="Google Shape;310;p6" id="512" name="Google Shape;512;p63"/>
          <p:cNvSpPr txBox="1"/>
          <p:nvPr/>
        </p:nvSpPr>
        <p:spPr>
          <a:xfrm>
            <a:off x="11718925" y="6445325"/>
            <a:ext cx="18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11;p6" id="513" name="Google Shape;513;p63"/>
          <p:cNvSpPr txBox="1"/>
          <p:nvPr/>
        </p:nvSpPr>
        <p:spPr>
          <a:xfrm>
            <a:off x="407912" y="1105735"/>
            <a:ext cx="113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20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HUMAN RESOURCES: Assigned roles based on experience and expertise</a:t>
            </a:r>
            <a:endParaRPr i="1" sz="17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12;p6" id="514" name="Google Shape;51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12" id="515" name="Google Shape;515;p63"/>
          <p:cNvSpPr txBox="1"/>
          <p:nvPr/>
        </p:nvSpPr>
        <p:spPr>
          <a:xfrm>
            <a:off x="392100" y="1658192"/>
            <a:ext cx="11430000" cy="5850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13" id="516" name="Google Shape;516;p63"/>
          <p:cNvSpPr txBox="1"/>
          <p:nvPr/>
        </p:nvSpPr>
        <p:spPr>
          <a:xfrm>
            <a:off x="423030" y="1600772"/>
            <a:ext cx="440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Kedar Nayak </a:t>
            </a:r>
            <a:r>
              <a:rPr b="1" lang="en-US" sz="1600">
                <a:solidFill>
                  <a:srgbClr val="1B236A"/>
                </a:solidFill>
              </a:rPr>
              <a:t>- </a:t>
            </a:r>
            <a:r>
              <a:rPr b="1" i="0" lang="en-US" sz="16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Firmware / System Architect</a:t>
            </a:r>
            <a:endParaRPr sz="1700"/>
          </a:p>
        </p:txBody>
      </p:sp>
      <p:sp>
        <p:nvSpPr>
          <p:cNvPr descr="TextBox 314" id="517" name="Google Shape;517;p63"/>
          <p:cNvSpPr txBox="1"/>
          <p:nvPr/>
        </p:nvSpPr>
        <p:spPr>
          <a:xfrm>
            <a:off x="4753882" y="1634236"/>
            <a:ext cx="70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6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PRS + LDMA zero-CPU pipeline, EM2 power optimization, power efficiency architecture, interrupt-driven firmware design</a:t>
            </a:r>
            <a:endParaRPr sz="1700"/>
          </a:p>
        </p:txBody>
      </p:sp>
      <p:sp>
        <p:nvSpPr>
          <p:cNvPr descr="Rectangle 315" id="518" name="Google Shape;518;p63"/>
          <p:cNvSpPr txBox="1"/>
          <p:nvPr/>
        </p:nvSpPr>
        <p:spPr>
          <a:xfrm>
            <a:off x="392112" y="2376748"/>
            <a:ext cx="11430000" cy="5031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16" id="519" name="Google Shape;519;p63"/>
          <p:cNvSpPr txBox="1"/>
          <p:nvPr/>
        </p:nvSpPr>
        <p:spPr>
          <a:xfrm>
            <a:off x="469056" y="2315652"/>
            <a:ext cx="4022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lang="en-US" sz="1600">
                <a:solidFill>
                  <a:srgbClr val="1B236A"/>
                </a:solidFill>
              </a:rPr>
              <a:t>MohammadMehdi Namdar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500">
                <a:solidFill>
                  <a:srgbClr val="1B236A"/>
                </a:solidFill>
              </a:rPr>
              <a:t>- 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AI / ML · Signal Processing</a:t>
            </a:r>
            <a:endParaRPr sz="1600"/>
          </a:p>
        </p:txBody>
      </p:sp>
      <p:sp>
        <p:nvSpPr>
          <p:cNvPr descr="TextBox 317" id="520" name="Google Shape;520;p63"/>
          <p:cNvSpPr txBox="1"/>
          <p:nvPr/>
        </p:nvSpPr>
        <p:spPr>
          <a:xfrm>
            <a:off x="4738763" y="2352164"/>
            <a:ext cx="70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6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NLMS filter design, 1D-CNN model training &amp; Int8 quantization, TFLite Micro deployment</a:t>
            </a:r>
            <a:endParaRPr sz="1700"/>
          </a:p>
        </p:txBody>
      </p:sp>
      <p:sp>
        <p:nvSpPr>
          <p:cNvPr descr="Rectangle 318" id="521" name="Google Shape;521;p63"/>
          <p:cNvSpPr txBox="1"/>
          <p:nvPr/>
        </p:nvSpPr>
        <p:spPr>
          <a:xfrm>
            <a:off x="392112" y="3004580"/>
            <a:ext cx="11430000" cy="5031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19" id="522" name="Google Shape;522;p63"/>
          <p:cNvSpPr txBox="1"/>
          <p:nvPr/>
        </p:nvSpPr>
        <p:spPr>
          <a:xfrm>
            <a:off x="438149" y="2995445"/>
            <a:ext cx="44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Kartik Gautam </a:t>
            </a:r>
            <a:r>
              <a:rPr b="1" lang="en-US" sz="1500">
                <a:solidFill>
                  <a:srgbClr val="1B236A"/>
                </a:solidFill>
              </a:rPr>
              <a:t>- 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Hardware Integration · BLE · Sensor Fusion</a:t>
            </a:r>
            <a:endParaRPr sz="1600"/>
          </a:p>
        </p:txBody>
      </p:sp>
      <p:sp>
        <p:nvSpPr>
          <p:cNvPr descr="TextBox 320" id="523" name="Google Shape;523;p63"/>
          <p:cNvSpPr txBox="1"/>
          <p:nvPr/>
        </p:nvSpPr>
        <p:spPr>
          <a:xfrm>
            <a:off x="4738763" y="2949450"/>
            <a:ext cx="704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5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AD8422 AFE + RLD circuit, dry electrode interface, PCB integration, MAX30102 PPG + MPU6050 IMU wiring, BLE 5.3 stack integration</a:t>
            </a:r>
            <a:endParaRPr sz="1700"/>
          </a:p>
        </p:txBody>
      </p:sp>
      <p:sp>
        <p:nvSpPr>
          <p:cNvPr descr="Rectangle 321" id="524" name="Google Shape;524;p63"/>
          <p:cNvSpPr txBox="1"/>
          <p:nvPr/>
        </p:nvSpPr>
        <p:spPr>
          <a:xfrm>
            <a:off x="392112" y="3662962"/>
            <a:ext cx="11430000" cy="5031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2" id="525" name="Google Shape;525;p63"/>
          <p:cNvSpPr txBox="1"/>
          <p:nvPr/>
        </p:nvSpPr>
        <p:spPr>
          <a:xfrm>
            <a:off x="484187" y="3637928"/>
            <a:ext cx="402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Pal Patel </a:t>
            </a:r>
            <a:r>
              <a:rPr b="1" lang="en-US" sz="1500">
                <a:solidFill>
                  <a:srgbClr val="1B236A"/>
                </a:solidFill>
              </a:rPr>
              <a:t>-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 Hardware Design · Dashboard · Optimization</a:t>
            </a:r>
            <a:endParaRPr sz="1600"/>
          </a:p>
        </p:txBody>
      </p:sp>
      <p:sp>
        <p:nvSpPr>
          <p:cNvPr descr="TextBox 323" id="526" name="Google Shape;526;p63"/>
          <p:cNvSpPr txBox="1"/>
          <p:nvPr/>
        </p:nvSpPr>
        <p:spPr>
          <a:xfrm>
            <a:off x="4738763" y="3607832"/>
            <a:ext cx="70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6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Clinical UI dashboard design, anomaly event logging, telemetry visualization, system-level performance optimization</a:t>
            </a:r>
            <a:endParaRPr sz="1700"/>
          </a:p>
        </p:txBody>
      </p:sp>
      <p:sp>
        <p:nvSpPr>
          <p:cNvPr descr="TextBox 324" id="527" name="Google Shape;527;p63"/>
          <p:cNvSpPr txBox="1"/>
          <p:nvPr/>
        </p:nvSpPr>
        <p:spPr>
          <a:xfrm>
            <a:off x="392793" y="4321774"/>
            <a:ext cx="113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rPr i="1" lang="en-US" sz="20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EQUIPMENT AND TOOLS</a:t>
            </a:r>
            <a:endParaRPr i="1" sz="16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descr="Rectangle 325" id="528" name="Google Shape;528;p63"/>
          <p:cNvSpPr txBox="1"/>
          <p:nvPr/>
        </p:nvSpPr>
        <p:spPr>
          <a:xfrm>
            <a:off x="346743" y="4894750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6" id="529" name="Google Shape;529;p63"/>
          <p:cNvSpPr txBox="1"/>
          <p:nvPr/>
        </p:nvSpPr>
        <p:spPr>
          <a:xfrm>
            <a:off x="438830" y="4864108"/>
            <a:ext cx="35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EFR32xG26 Dev Kit</a:t>
            </a:r>
            <a:endParaRPr sz="1600"/>
          </a:p>
        </p:txBody>
      </p:sp>
      <p:sp>
        <p:nvSpPr>
          <p:cNvPr descr="TextBox 327" id="530" name="Google Shape;530;p63"/>
          <p:cNvSpPr txBox="1"/>
          <p:nvPr/>
        </p:nvSpPr>
        <p:spPr>
          <a:xfrm>
            <a:off x="438830" y="5169966"/>
            <a:ext cx="35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Assigned: primary MCU + MVP platform</a:t>
            </a:r>
            <a:endParaRPr sz="1600"/>
          </a:p>
        </p:txBody>
      </p:sp>
      <p:sp>
        <p:nvSpPr>
          <p:cNvPr descr="Rectangle 328" id="531" name="Google Shape;531;p63"/>
          <p:cNvSpPr txBox="1"/>
          <p:nvPr/>
        </p:nvSpPr>
        <p:spPr>
          <a:xfrm>
            <a:off x="4186918" y="4894750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9" id="532" name="Google Shape;532;p63"/>
          <p:cNvSpPr txBox="1"/>
          <p:nvPr/>
        </p:nvSpPr>
        <p:spPr>
          <a:xfrm>
            <a:off x="4278993" y="4864108"/>
            <a:ext cx="35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BGM220 Explorer Kit</a:t>
            </a:r>
            <a:endParaRPr sz="1600"/>
          </a:p>
        </p:txBody>
      </p:sp>
      <p:sp>
        <p:nvSpPr>
          <p:cNvPr descr="TextBox 330" id="533" name="Google Shape;533;p63"/>
          <p:cNvSpPr txBox="1"/>
          <p:nvPr/>
        </p:nvSpPr>
        <p:spPr>
          <a:xfrm>
            <a:off x="4278993" y="5185085"/>
            <a:ext cx="35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Assigned: BLE development &amp; testing</a:t>
            </a:r>
            <a:endParaRPr sz="1600"/>
          </a:p>
        </p:txBody>
      </p:sp>
      <p:sp>
        <p:nvSpPr>
          <p:cNvPr descr="Rectangle 331" id="534" name="Google Shape;534;p63"/>
          <p:cNvSpPr txBox="1"/>
          <p:nvPr/>
        </p:nvSpPr>
        <p:spPr>
          <a:xfrm>
            <a:off x="8028668" y="4894750"/>
            <a:ext cx="37020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2" id="535" name="Google Shape;535;p63"/>
          <p:cNvSpPr txBox="1"/>
          <p:nvPr/>
        </p:nvSpPr>
        <p:spPr>
          <a:xfrm>
            <a:off x="8119155" y="4879227"/>
            <a:ext cx="356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Raspberry Pi 4</a:t>
            </a:r>
            <a:endParaRPr sz="1600"/>
          </a:p>
        </p:txBody>
      </p:sp>
      <p:sp>
        <p:nvSpPr>
          <p:cNvPr descr="TextBox 333" id="536" name="Google Shape;536;p63"/>
          <p:cNvSpPr txBox="1"/>
          <p:nvPr/>
        </p:nvSpPr>
        <p:spPr>
          <a:xfrm>
            <a:off x="8119155" y="5169966"/>
            <a:ext cx="356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Assigned: gateway + dashboard</a:t>
            </a:r>
            <a:endParaRPr sz="1600"/>
          </a:p>
        </p:txBody>
      </p:sp>
      <p:sp>
        <p:nvSpPr>
          <p:cNvPr descr="Rectangle 334" id="537" name="Google Shape;537;p63"/>
          <p:cNvSpPr txBox="1"/>
          <p:nvPr/>
        </p:nvSpPr>
        <p:spPr>
          <a:xfrm>
            <a:off x="345143" y="5599719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5" id="538" name="Google Shape;538;p63"/>
          <p:cNvSpPr txBox="1"/>
          <p:nvPr/>
        </p:nvSpPr>
        <p:spPr>
          <a:xfrm>
            <a:off x="438830" y="5590881"/>
            <a:ext cx="35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MAX30102 PPG Sensor</a:t>
            </a:r>
            <a:endParaRPr sz="1600"/>
          </a:p>
        </p:txBody>
      </p:sp>
      <p:sp>
        <p:nvSpPr>
          <p:cNvPr descr="TextBox 336" id="539" name="Google Shape;539;p63"/>
          <p:cNvSpPr txBox="1"/>
          <p:nvPr/>
        </p:nvSpPr>
        <p:spPr>
          <a:xfrm>
            <a:off x="438830" y="5866501"/>
            <a:ext cx="35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Procured: optical SpO₂ + PPG sensing</a:t>
            </a:r>
            <a:endParaRPr sz="1600"/>
          </a:p>
        </p:txBody>
      </p:sp>
      <p:sp>
        <p:nvSpPr>
          <p:cNvPr descr="Rectangle 337" id="540" name="Google Shape;540;p63"/>
          <p:cNvSpPr txBox="1"/>
          <p:nvPr/>
        </p:nvSpPr>
        <p:spPr>
          <a:xfrm>
            <a:off x="4186918" y="5599736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8" id="541" name="Google Shape;541;p63"/>
          <p:cNvSpPr txBox="1"/>
          <p:nvPr/>
        </p:nvSpPr>
        <p:spPr>
          <a:xfrm>
            <a:off x="4278993" y="5590881"/>
            <a:ext cx="35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MPU6050 IMU</a:t>
            </a:r>
            <a:endParaRPr sz="1600"/>
          </a:p>
        </p:txBody>
      </p:sp>
      <p:sp>
        <p:nvSpPr>
          <p:cNvPr descr="TextBox 339" id="542" name="Google Shape;542;p63"/>
          <p:cNvSpPr txBox="1"/>
          <p:nvPr/>
        </p:nvSpPr>
        <p:spPr>
          <a:xfrm>
            <a:off x="4278993" y="5866501"/>
            <a:ext cx="35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Procured: 6-DOF motion artifact reference</a:t>
            </a:r>
            <a:endParaRPr sz="1600"/>
          </a:p>
        </p:txBody>
      </p:sp>
      <p:sp>
        <p:nvSpPr>
          <p:cNvPr descr="Rectangle 340" id="543" name="Google Shape;543;p63"/>
          <p:cNvSpPr txBox="1"/>
          <p:nvPr/>
        </p:nvSpPr>
        <p:spPr>
          <a:xfrm>
            <a:off x="8028668" y="5599736"/>
            <a:ext cx="37020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1" id="544" name="Google Shape;544;p63"/>
          <p:cNvSpPr txBox="1"/>
          <p:nvPr/>
        </p:nvSpPr>
        <p:spPr>
          <a:xfrm>
            <a:off x="8119155" y="5590881"/>
            <a:ext cx="356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AD8422 InAmp + RLD</a:t>
            </a:r>
            <a:endParaRPr sz="1600"/>
          </a:p>
        </p:txBody>
      </p:sp>
      <p:sp>
        <p:nvSpPr>
          <p:cNvPr descr="TextBox 342" id="545" name="Google Shape;545;p63"/>
          <p:cNvSpPr txBox="1"/>
          <p:nvPr/>
        </p:nvSpPr>
        <p:spPr>
          <a:xfrm>
            <a:off x="8119155" y="5836263"/>
            <a:ext cx="356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Procured: ECG analog front-end circuit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18;p7" id="550" name="Google Shape;550;p64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Milestones</a:t>
            </a:r>
            <a:endParaRPr/>
          </a:p>
        </p:txBody>
      </p:sp>
      <p:sp>
        <p:nvSpPr>
          <p:cNvPr descr="Google Shape;319;p7" id="551" name="Google Shape;551;p64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20;p7" id="552" name="Google Shape;552;p64"/>
          <p:cNvSpPr txBox="1"/>
          <p:nvPr/>
        </p:nvSpPr>
        <p:spPr>
          <a:xfrm>
            <a:off x="191206" y="1145897"/>
            <a:ext cx="113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18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GOALS AND TIMELINE</a:t>
            </a:r>
            <a:endParaRPr i="1" sz="15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21;p7" id="553" name="Google Shape;55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21" id="554" name="Google Shape;554;p64"/>
          <p:cNvSpPr txBox="1"/>
          <p:nvPr/>
        </p:nvSpPr>
        <p:spPr>
          <a:xfrm>
            <a:off x="201612" y="1655384"/>
            <a:ext cx="11811000" cy="5478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2" id="555" name="Google Shape;555;p64"/>
          <p:cNvSpPr txBox="1"/>
          <p:nvPr/>
        </p:nvSpPr>
        <p:spPr>
          <a:xfrm>
            <a:off x="296756" y="1675069"/>
            <a:ext cx="1162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47"/>
              <a:buFont typeface="Arial"/>
              <a:buNone/>
            </a:pPr>
            <a:r>
              <a:rPr b="1" i="0" lang="en-US" sz="1447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Goal: Deliver a working prototype demonstrating real-time ECG motion cancellation and edge AI arrhythmia detection on EFR32MG26 hardware, live at the final presentation.</a:t>
            </a:r>
            <a:endParaRPr sz="1447"/>
          </a:p>
        </p:txBody>
      </p:sp>
      <p:sp>
        <p:nvSpPr>
          <p:cNvPr descr="Rectangle 323" id="556" name="Google Shape;556;p64"/>
          <p:cNvSpPr txBox="1"/>
          <p:nvPr/>
        </p:nvSpPr>
        <p:spPr>
          <a:xfrm>
            <a:off x="201612" y="2414678"/>
            <a:ext cx="11811000" cy="4725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4" id="557" name="Google Shape;557;p64"/>
          <p:cNvSpPr txBox="1"/>
          <p:nvPr/>
        </p:nvSpPr>
        <p:spPr>
          <a:xfrm>
            <a:off x="296756" y="2452408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sz="1547"/>
          </a:p>
        </p:txBody>
      </p:sp>
      <p:sp>
        <p:nvSpPr>
          <p:cNvPr descr="TextBox 325" id="558" name="Google Shape;558;p64"/>
          <p:cNvSpPr txBox="1"/>
          <p:nvPr/>
        </p:nvSpPr>
        <p:spPr>
          <a:xfrm>
            <a:off x="1874837" y="2452408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Architecture &amp; Sensor Selection</a:t>
            </a:r>
            <a:endParaRPr sz="1650"/>
          </a:p>
        </p:txBody>
      </p:sp>
      <p:sp>
        <p:nvSpPr>
          <p:cNvPr descr="Rectangle 326" id="559" name="Google Shape;559;p64"/>
          <p:cNvSpPr txBox="1"/>
          <p:nvPr/>
        </p:nvSpPr>
        <p:spPr>
          <a:xfrm>
            <a:off x="9783762" y="2530248"/>
            <a:ext cx="1828800" cy="2922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7" id="560" name="Google Shape;560;p64"/>
          <p:cNvSpPr txBox="1"/>
          <p:nvPr/>
        </p:nvSpPr>
        <p:spPr>
          <a:xfrm>
            <a:off x="9829800" y="2530248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Rectangle 328" id="561" name="Google Shape;561;p64"/>
          <p:cNvSpPr txBox="1"/>
          <p:nvPr/>
        </p:nvSpPr>
        <p:spPr>
          <a:xfrm>
            <a:off x="201612" y="2954375"/>
            <a:ext cx="11811000" cy="4725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9" id="562" name="Google Shape;562;p64"/>
          <p:cNvSpPr txBox="1"/>
          <p:nvPr/>
        </p:nvSpPr>
        <p:spPr>
          <a:xfrm>
            <a:off x="296756" y="2992104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sz="1547"/>
          </a:p>
        </p:txBody>
      </p:sp>
      <p:sp>
        <p:nvSpPr>
          <p:cNvPr descr="TextBox 330" id="563" name="Google Shape;563;p64"/>
          <p:cNvSpPr txBox="1"/>
          <p:nvPr/>
        </p:nvSpPr>
        <p:spPr>
          <a:xfrm>
            <a:off x="1874837" y="2992104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Firmware + PRS/LDMA Zero-CPU Pipeline</a:t>
            </a:r>
            <a:endParaRPr sz="1650"/>
          </a:p>
        </p:txBody>
      </p:sp>
      <p:sp>
        <p:nvSpPr>
          <p:cNvPr descr="Rectangle 331" id="564" name="Google Shape;564;p64"/>
          <p:cNvSpPr txBox="1"/>
          <p:nvPr/>
        </p:nvSpPr>
        <p:spPr>
          <a:xfrm>
            <a:off x="9783762" y="3050948"/>
            <a:ext cx="1828800" cy="2937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2" id="565" name="Google Shape;565;p64"/>
          <p:cNvSpPr txBox="1"/>
          <p:nvPr/>
        </p:nvSpPr>
        <p:spPr>
          <a:xfrm>
            <a:off x="9829800" y="3050948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Rectangle 333" id="566" name="Google Shape;566;p64"/>
          <p:cNvSpPr txBox="1"/>
          <p:nvPr/>
        </p:nvSpPr>
        <p:spPr>
          <a:xfrm>
            <a:off x="201612" y="3492432"/>
            <a:ext cx="11811000" cy="4725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4" id="567" name="Google Shape;567;p64"/>
          <p:cNvSpPr txBox="1"/>
          <p:nvPr/>
        </p:nvSpPr>
        <p:spPr>
          <a:xfrm>
            <a:off x="296756" y="3530161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sz="1547"/>
          </a:p>
        </p:txBody>
      </p:sp>
      <p:sp>
        <p:nvSpPr>
          <p:cNvPr descr="TextBox 335" id="568" name="Google Shape;568;p64"/>
          <p:cNvSpPr txBox="1"/>
          <p:nvPr/>
        </p:nvSpPr>
        <p:spPr>
          <a:xfrm>
            <a:off x="1874837" y="3530161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AI Model Training &amp; Int8 Quantization</a:t>
            </a:r>
            <a:endParaRPr sz="1650"/>
          </a:p>
        </p:txBody>
      </p:sp>
      <p:sp>
        <p:nvSpPr>
          <p:cNvPr descr="Rectangle 336" id="569" name="Google Shape;569;p64"/>
          <p:cNvSpPr txBox="1"/>
          <p:nvPr/>
        </p:nvSpPr>
        <p:spPr>
          <a:xfrm>
            <a:off x="9783762" y="3573236"/>
            <a:ext cx="1828800" cy="2922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7" id="570" name="Google Shape;570;p64"/>
          <p:cNvSpPr txBox="1"/>
          <p:nvPr/>
        </p:nvSpPr>
        <p:spPr>
          <a:xfrm>
            <a:off x="9829800" y="3573236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Rectangle 338" id="571" name="Google Shape;571;p64"/>
          <p:cNvSpPr txBox="1"/>
          <p:nvPr/>
        </p:nvSpPr>
        <p:spPr>
          <a:xfrm>
            <a:off x="201612" y="4030489"/>
            <a:ext cx="11811000" cy="4725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9" id="572" name="Google Shape;572;p64"/>
          <p:cNvSpPr txBox="1"/>
          <p:nvPr/>
        </p:nvSpPr>
        <p:spPr>
          <a:xfrm>
            <a:off x="296756" y="4068218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sz="1547"/>
          </a:p>
        </p:txBody>
      </p:sp>
      <p:sp>
        <p:nvSpPr>
          <p:cNvPr descr="TextBox 340" id="573" name="Google Shape;573;p64"/>
          <p:cNvSpPr txBox="1"/>
          <p:nvPr/>
        </p:nvSpPr>
        <p:spPr>
          <a:xfrm>
            <a:off x="1874837" y="4068218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Hardware MVP + NLMS Filter Integration</a:t>
            </a:r>
            <a:endParaRPr sz="1650"/>
          </a:p>
        </p:txBody>
      </p:sp>
      <p:sp>
        <p:nvSpPr>
          <p:cNvPr descr="Rectangle 341" id="574" name="Google Shape;574;p64"/>
          <p:cNvSpPr txBox="1"/>
          <p:nvPr/>
        </p:nvSpPr>
        <p:spPr>
          <a:xfrm>
            <a:off x="9783762" y="4093936"/>
            <a:ext cx="1828800" cy="292200"/>
          </a:xfrm>
          <a:prstGeom prst="rect">
            <a:avLst/>
          </a:prstGeom>
          <a:solidFill>
            <a:srgbClr val="CC8800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2" id="575" name="Google Shape;575;p64"/>
          <p:cNvSpPr txBox="1"/>
          <p:nvPr/>
        </p:nvSpPr>
        <p:spPr>
          <a:xfrm>
            <a:off x="9829800" y="4093936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sz="1500"/>
          </a:p>
        </p:txBody>
      </p:sp>
      <p:sp>
        <p:nvSpPr>
          <p:cNvPr descr="Rectangle 343" id="576" name="Google Shape;576;p64"/>
          <p:cNvSpPr txBox="1"/>
          <p:nvPr/>
        </p:nvSpPr>
        <p:spPr>
          <a:xfrm>
            <a:off x="201612" y="4570185"/>
            <a:ext cx="11811000" cy="4725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4" id="577" name="Google Shape;577;p64"/>
          <p:cNvSpPr txBox="1"/>
          <p:nvPr/>
        </p:nvSpPr>
        <p:spPr>
          <a:xfrm>
            <a:off x="296756" y="4607915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sz="1547"/>
          </a:p>
        </p:txBody>
      </p:sp>
      <p:sp>
        <p:nvSpPr>
          <p:cNvPr descr="TextBox 345" id="578" name="Google Shape;578;p64"/>
          <p:cNvSpPr txBox="1"/>
          <p:nvPr/>
        </p:nvSpPr>
        <p:spPr>
          <a:xfrm>
            <a:off x="1874837" y="4607915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Clinical Dashboard + BLE 5.3 Telemetry</a:t>
            </a:r>
            <a:endParaRPr sz="1650"/>
          </a:p>
        </p:txBody>
      </p:sp>
      <p:sp>
        <p:nvSpPr>
          <p:cNvPr descr="Rectangle 346" id="579" name="Google Shape;579;p64"/>
          <p:cNvSpPr txBox="1"/>
          <p:nvPr/>
        </p:nvSpPr>
        <p:spPr>
          <a:xfrm>
            <a:off x="9783762" y="4614636"/>
            <a:ext cx="1828800" cy="293700"/>
          </a:xfrm>
          <a:prstGeom prst="rect">
            <a:avLst/>
          </a:prstGeom>
          <a:solidFill>
            <a:srgbClr val="447BC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7" id="580" name="Google Shape;580;p64"/>
          <p:cNvSpPr txBox="1"/>
          <p:nvPr/>
        </p:nvSpPr>
        <p:spPr>
          <a:xfrm>
            <a:off x="9829800" y="4614636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Planned</a:t>
            </a:r>
            <a:endParaRPr sz="1500"/>
          </a:p>
        </p:txBody>
      </p:sp>
      <p:sp>
        <p:nvSpPr>
          <p:cNvPr descr="Rectangle 348" id="581" name="Google Shape;581;p64"/>
          <p:cNvSpPr txBox="1"/>
          <p:nvPr/>
        </p:nvSpPr>
        <p:spPr>
          <a:xfrm>
            <a:off x="201612" y="5108242"/>
            <a:ext cx="11811000" cy="4725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9" id="582" name="Google Shape;582;p64"/>
          <p:cNvSpPr txBox="1"/>
          <p:nvPr/>
        </p:nvSpPr>
        <p:spPr>
          <a:xfrm>
            <a:off x="296756" y="5145972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6</a:t>
            </a:r>
            <a:endParaRPr sz="1547"/>
          </a:p>
        </p:txBody>
      </p:sp>
      <p:sp>
        <p:nvSpPr>
          <p:cNvPr descr="TextBox 350" id="583" name="Google Shape;583;p64"/>
          <p:cNvSpPr txBox="1"/>
          <p:nvPr/>
        </p:nvSpPr>
        <p:spPr>
          <a:xfrm>
            <a:off x="1874837" y="5145972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Full Prototype + Demo Validation</a:t>
            </a:r>
            <a:endParaRPr sz="1650"/>
          </a:p>
        </p:txBody>
      </p:sp>
      <p:sp>
        <p:nvSpPr>
          <p:cNvPr descr="Rectangle 351" id="584" name="Google Shape;584;p64"/>
          <p:cNvSpPr txBox="1"/>
          <p:nvPr/>
        </p:nvSpPr>
        <p:spPr>
          <a:xfrm>
            <a:off x="9783762" y="5136923"/>
            <a:ext cx="1828800" cy="292200"/>
          </a:xfrm>
          <a:prstGeom prst="rect">
            <a:avLst/>
          </a:prstGeom>
          <a:solidFill>
            <a:srgbClr val="447BC4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2" id="585" name="Google Shape;585;p64"/>
          <p:cNvSpPr txBox="1"/>
          <p:nvPr/>
        </p:nvSpPr>
        <p:spPr>
          <a:xfrm>
            <a:off x="9829800" y="5136923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Upcoming</a:t>
            </a:r>
            <a:endParaRPr sz="1500"/>
          </a:p>
        </p:txBody>
      </p:sp>
      <p:sp>
        <p:nvSpPr>
          <p:cNvPr descr="TextBox 353" id="586" name="Google Shape;586;p64"/>
          <p:cNvSpPr txBox="1"/>
          <p:nvPr/>
        </p:nvSpPr>
        <p:spPr>
          <a:xfrm>
            <a:off x="249185" y="5741443"/>
            <a:ext cx="117159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Overall Progress: ~55%</a:t>
            </a:r>
            <a:endParaRPr sz="1547"/>
          </a:p>
        </p:txBody>
      </p:sp>
      <p:sp>
        <p:nvSpPr>
          <p:cNvPr descr="Rectangle 354" id="587" name="Google Shape;587;p64"/>
          <p:cNvSpPr txBox="1"/>
          <p:nvPr/>
        </p:nvSpPr>
        <p:spPr>
          <a:xfrm>
            <a:off x="201612" y="6038139"/>
            <a:ext cx="11811000" cy="208200"/>
          </a:xfrm>
          <a:prstGeom prst="rect">
            <a:avLst/>
          </a:prstGeom>
          <a:solidFill>
            <a:srgbClr val="DDEAFF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55" id="588" name="Google Shape;588;p64"/>
          <p:cNvSpPr txBox="1"/>
          <p:nvPr/>
        </p:nvSpPr>
        <p:spPr>
          <a:xfrm>
            <a:off x="201612" y="6023020"/>
            <a:ext cx="6501000" cy="208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7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27;p8" id="593" name="Google Shape;593;p65"/>
          <p:cNvSpPr txBox="1"/>
          <p:nvPr>
            <p:ph type="title"/>
          </p:nvPr>
        </p:nvSpPr>
        <p:spPr>
          <a:xfrm>
            <a:off x="340662" y="148438"/>
            <a:ext cx="105156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 process</a:t>
            </a:r>
            <a:endParaRPr/>
          </a:p>
        </p:txBody>
      </p:sp>
      <p:sp>
        <p:nvSpPr>
          <p:cNvPr descr="Google Shape;328;p8" id="594" name="Google Shape;594;p65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pic>
        <p:nvPicPr>
          <p:cNvPr descr="Google Shape;329;p8" id="595" name="Google Shape;5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330;p8" id="596" name="Google Shape;596;p65"/>
          <p:cNvSpPr txBox="1"/>
          <p:nvPr/>
        </p:nvSpPr>
        <p:spPr>
          <a:xfrm>
            <a:off x="143150" y="1093125"/>
            <a:ext cx="116328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rPr i="1" lang="en-US" sz="19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HOW TEAM OCELLEON WORKS: AI/ML at the Core</a:t>
            </a:r>
            <a:endParaRPr i="1" sz="1900" u="sng">
              <a:solidFill>
                <a:srgbClr val="1B236A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78D8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None/>
            </a:pPr>
            <a:r>
              <a:t/>
            </a:r>
            <a:endParaRPr b="1" sz="1600">
              <a:solidFill>
                <a:srgbClr val="3C78D8"/>
              </a:solidFill>
            </a:endParaRPr>
          </a:p>
        </p:txBody>
      </p:sp>
      <p:sp>
        <p:nvSpPr>
          <p:cNvPr id="597" name="Google Shape;597;p65"/>
          <p:cNvSpPr txBox="1"/>
          <p:nvPr/>
        </p:nvSpPr>
        <p:spPr>
          <a:xfrm>
            <a:off x="695711" y="1514425"/>
            <a:ext cx="11005500" cy="1299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rPr b="1" lang="en-US" sz="1600">
                <a:solidFill>
                  <a:srgbClr val="1B236A"/>
                </a:solidFill>
              </a:rPr>
              <a:t>Team Logistics &amp; Sync</a:t>
            </a:r>
            <a:endParaRPr b="1" sz="1600">
              <a:solidFill>
                <a:srgbClr val="1B236A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Daily Synergy:</a:t>
            </a:r>
            <a:r>
              <a:rPr lang="en-US" sz="1500">
                <a:solidFill>
                  <a:srgbClr val="3C78D8"/>
                </a:solidFill>
              </a:rPr>
              <a:t> In-person during university hours for prototyping.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Deep Dives:</a:t>
            </a:r>
            <a:r>
              <a:rPr lang="en-US" sz="1500">
                <a:solidFill>
                  <a:srgbClr val="3C78D8"/>
                </a:solidFill>
              </a:rPr>
              <a:t> Weekly 90-minute Sunday virtual stand-ups for technical reviews.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Centralized Docs:</a:t>
            </a:r>
            <a:r>
              <a:rPr lang="en-US" sz="1500">
                <a:solidFill>
                  <a:srgbClr val="3C78D8"/>
                </a:solidFill>
              </a:rPr>
              <a:t> Notion serves as the source for decisions and hardware datasheets.</a:t>
            </a:r>
            <a:endParaRPr sz="1500">
              <a:solidFill>
                <a:srgbClr val="3C78D8"/>
              </a:solidFill>
            </a:endParaRPr>
          </a:p>
        </p:txBody>
      </p:sp>
      <p:sp>
        <p:nvSpPr>
          <p:cNvPr id="598" name="Google Shape;598;p65"/>
          <p:cNvSpPr txBox="1"/>
          <p:nvPr/>
        </p:nvSpPr>
        <p:spPr>
          <a:xfrm>
            <a:off x="702911" y="2881015"/>
            <a:ext cx="10991100" cy="1623900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36A"/>
                </a:solidFill>
              </a:rPr>
              <a:t>Development Workflow</a:t>
            </a:r>
            <a:endParaRPr b="1" sz="1600">
              <a:solidFill>
                <a:srgbClr val="1B236A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Version Control:</a:t>
            </a:r>
            <a:r>
              <a:rPr lang="en-US" sz="1500">
                <a:solidFill>
                  <a:srgbClr val="3C78D8"/>
                </a:solidFill>
              </a:rPr>
              <a:t> GitHub feature-branch workflow with milestones in GitHub Projects.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Quality Control:</a:t>
            </a:r>
            <a:r>
              <a:rPr lang="en-US" sz="1500">
                <a:solidFill>
                  <a:srgbClr val="3C78D8"/>
                </a:solidFill>
              </a:rPr>
              <a:t> Automated CI pipelines for firmware builds on every Pull Request.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Resource Hub:</a:t>
            </a:r>
            <a:r>
              <a:rPr lang="en-US" sz="1500">
                <a:solidFill>
                  <a:srgbClr val="3C78D8"/>
                </a:solidFill>
              </a:rPr>
              <a:t> Shared Google Drive for large datasets and technical reports.</a:t>
            </a:r>
            <a:endParaRPr sz="1500"/>
          </a:p>
        </p:txBody>
      </p:sp>
      <p:sp>
        <p:nvSpPr>
          <p:cNvPr id="599" name="Google Shape;599;p65"/>
          <p:cNvSpPr txBox="1"/>
          <p:nvPr/>
        </p:nvSpPr>
        <p:spPr>
          <a:xfrm>
            <a:off x="677489" y="4580675"/>
            <a:ext cx="11005500" cy="2190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36A"/>
                </a:solidFill>
              </a:rPr>
              <a:t>AI/ML Core: Tarang</a:t>
            </a:r>
            <a:endParaRPr b="1" sz="1600">
              <a:solidFill>
                <a:srgbClr val="1B236A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Edge Intelligence:</a:t>
            </a:r>
            <a:r>
              <a:rPr lang="en-US" sz="1500">
                <a:solidFill>
                  <a:srgbClr val="3C78D8"/>
                </a:solidFill>
              </a:rPr>
              <a:t> Quantized 1D-CNN (TFLite Micro) running on the EFR32MG26 hardware accelerator.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Artifact Suppression:</a:t>
            </a:r>
            <a:r>
              <a:rPr lang="en-US" sz="1500">
                <a:solidFill>
                  <a:srgbClr val="3C78D8"/>
                </a:solidFill>
              </a:rPr>
              <a:t> IMU-assisted NLMS adaptive filtering for motion-proof ECG signals.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Optimized Performance:                                              </a:t>
            </a:r>
            <a:r>
              <a:rPr b="1" lang="en-US" sz="1500">
                <a:solidFill>
                  <a:srgbClr val="3C78D8"/>
                </a:solidFill>
              </a:rPr>
              <a:t>Validation : </a:t>
            </a:r>
            <a:r>
              <a:rPr lang="en-US" sz="1500">
                <a:solidFill>
                  <a:srgbClr val="3C78D8"/>
                </a:solidFill>
              </a:rPr>
              <a:t>MIT-BIH/PhysioNet Datasets</a:t>
            </a:r>
            <a:endParaRPr b="1" sz="1500">
              <a:solidFill>
                <a:srgbClr val="3C78D8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○"/>
            </a:pPr>
            <a:r>
              <a:rPr b="1" lang="en-US" sz="1500">
                <a:solidFill>
                  <a:srgbClr val="3C78D8"/>
                </a:solidFill>
              </a:rPr>
              <a:t>Size:</a:t>
            </a:r>
            <a:r>
              <a:rPr lang="en-US" sz="1500">
                <a:solidFill>
                  <a:srgbClr val="3C78D8"/>
                </a:solidFill>
              </a:rPr>
              <a:t> Ultra-lean &lt;50KB memory footprint              </a:t>
            </a:r>
            <a:endParaRPr sz="1500">
              <a:solidFill>
                <a:srgbClr val="3C78D8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○"/>
            </a:pPr>
            <a:r>
              <a:rPr b="1" lang="en-US" sz="1500">
                <a:solidFill>
                  <a:srgbClr val="3C78D8"/>
                </a:solidFill>
              </a:rPr>
              <a:t>Power Efficiency:</a:t>
            </a:r>
            <a:r>
              <a:rPr lang="en-US" sz="1500">
                <a:solidFill>
                  <a:srgbClr val="3C78D8"/>
                </a:solidFill>
              </a:rPr>
              <a:t> Offloaded to MVP hardware for </a:t>
            </a:r>
            <a:r>
              <a:rPr b="1" lang="en-US" sz="1500">
                <a:solidFill>
                  <a:srgbClr val="3C78D8"/>
                </a:solidFill>
              </a:rPr>
              <a:t>near-zero CPU load</a:t>
            </a:r>
            <a:r>
              <a:rPr lang="en-US" sz="1500">
                <a:solidFill>
                  <a:srgbClr val="3C78D8"/>
                </a:solidFill>
              </a:rPr>
              <a:t>, maximizing battery life.</a:t>
            </a:r>
            <a:endParaRPr sz="1500">
              <a:solidFill>
                <a:srgbClr val="3C78D8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○"/>
            </a:pPr>
            <a:r>
              <a:rPr b="1" lang="en-US" sz="1500">
                <a:solidFill>
                  <a:srgbClr val="3C78D8"/>
                </a:solidFill>
              </a:rPr>
              <a:t>Data Integrity:</a:t>
            </a:r>
            <a:r>
              <a:rPr lang="en-US" sz="1500">
                <a:solidFill>
                  <a:srgbClr val="3C78D8"/>
                </a:solidFill>
              </a:rPr>
              <a:t> 100% on-device processing ensures zero privacy risk and offline reliability.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36;p9" id="604" name="Google Shape;604;p66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Management</a:t>
            </a:r>
            <a:endParaRPr/>
          </a:p>
        </p:txBody>
      </p:sp>
      <p:sp>
        <p:nvSpPr>
          <p:cNvPr descr="Google Shape;337;p9" id="605" name="Google Shape;605;p66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38;p9" id="606" name="Google Shape;606;p66"/>
          <p:cNvSpPr txBox="1"/>
          <p:nvPr/>
        </p:nvSpPr>
        <p:spPr>
          <a:xfrm>
            <a:off x="48550" y="1153450"/>
            <a:ext cx="113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18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FORECASTED RISKS AND MITIGATION ACTIONS</a:t>
            </a:r>
            <a:endParaRPr i="1" sz="15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39;p9" id="607" name="Google Shape;60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39" id="608" name="Google Shape;608;p66"/>
          <p:cNvSpPr txBox="1"/>
          <p:nvPr/>
        </p:nvSpPr>
        <p:spPr>
          <a:xfrm>
            <a:off x="48550" y="1712532"/>
            <a:ext cx="5419200" cy="355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0" id="609" name="Google Shape;609;p66"/>
          <p:cNvSpPr txBox="1"/>
          <p:nvPr/>
        </p:nvSpPr>
        <p:spPr>
          <a:xfrm>
            <a:off x="5516390" y="1712532"/>
            <a:ext cx="1305300" cy="355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1" id="610" name="Google Shape;610;p66"/>
          <p:cNvSpPr txBox="1"/>
          <p:nvPr/>
        </p:nvSpPr>
        <p:spPr>
          <a:xfrm>
            <a:off x="6870332" y="1712532"/>
            <a:ext cx="5273100" cy="355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2" id="611" name="Google Shape;611;p66"/>
          <p:cNvSpPr txBox="1"/>
          <p:nvPr/>
        </p:nvSpPr>
        <p:spPr>
          <a:xfrm>
            <a:off x="145980" y="1733622"/>
            <a:ext cx="5224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3"/>
              <a:buFont typeface="Arial"/>
              <a:buNone/>
            </a:pPr>
            <a:r>
              <a:rPr b="1" i="0" lang="en-US" sz="176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1863"/>
          </a:p>
        </p:txBody>
      </p:sp>
      <p:sp>
        <p:nvSpPr>
          <p:cNvPr descr="TextBox 343" id="612" name="Google Shape;612;p66"/>
          <p:cNvSpPr txBox="1"/>
          <p:nvPr/>
        </p:nvSpPr>
        <p:spPr>
          <a:xfrm>
            <a:off x="5583583" y="1733622"/>
            <a:ext cx="1161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3"/>
              <a:buFont typeface="Arial"/>
              <a:buNone/>
            </a:pPr>
            <a:r>
              <a:rPr b="1" i="0" lang="en-US" sz="176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863"/>
          </a:p>
        </p:txBody>
      </p:sp>
      <p:sp>
        <p:nvSpPr>
          <p:cNvPr descr="TextBox 344" id="613" name="Google Shape;613;p66"/>
          <p:cNvSpPr txBox="1"/>
          <p:nvPr/>
        </p:nvSpPr>
        <p:spPr>
          <a:xfrm>
            <a:off x="6957683" y="1733622"/>
            <a:ext cx="5128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3"/>
              <a:buFont typeface="Arial"/>
              <a:buNone/>
            </a:pPr>
            <a:r>
              <a:rPr b="1" i="0" lang="en-US" sz="176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Mitigation Action</a:t>
            </a:r>
            <a:endParaRPr sz="1863"/>
          </a:p>
        </p:txBody>
      </p:sp>
      <p:sp>
        <p:nvSpPr>
          <p:cNvPr descr="Rectangle 345" id="614" name="Google Shape;614;p66"/>
          <p:cNvSpPr txBox="1"/>
          <p:nvPr/>
        </p:nvSpPr>
        <p:spPr>
          <a:xfrm>
            <a:off x="48550" y="2173128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6" id="615" name="Google Shape;615;p66"/>
          <p:cNvSpPr txBox="1"/>
          <p:nvPr/>
        </p:nvSpPr>
        <p:spPr>
          <a:xfrm>
            <a:off x="5516390" y="2173128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7" id="616" name="Google Shape;616;p66"/>
          <p:cNvSpPr txBox="1"/>
          <p:nvPr/>
        </p:nvSpPr>
        <p:spPr>
          <a:xfrm>
            <a:off x="6870332" y="2173128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8" id="617" name="Google Shape;617;p66"/>
          <p:cNvSpPr txBox="1"/>
          <p:nvPr/>
        </p:nvSpPr>
        <p:spPr>
          <a:xfrm>
            <a:off x="145980" y="2234641"/>
            <a:ext cx="522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757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Signal noise in electrode placement</a:t>
            </a:r>
            <a:endParaRPr sz="1963"/>
          </a:p>
        </p:txBody>
      </p:sp>
      <p:sp>
        <p:nvSpPr>
          <p:cNvPr descr="Rectangle 349" id="618" name="Google Shape;618;p66"/>
          <p:cNvSpPr txBox="1"/>
          <p:nvPr/>
        </p:nvSpPr>
        <p:spPr>
          <a:xfrm>
            <a:off x="5650777" y="2315487"/>
            <a:ext cx="1016100" cy="2826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0" id="619" name="Google Shape;619;p66"/>
          <p:cNvSpPr txBox="1"/>
          <p:nvPr/>
        </p:nvSpPr>
        <p:spPr>
          <a:xfrm>
            <a:off x="5699491" y="2315487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967"/>
          </a:p>
        </p:txBody>
      </p:sp>
      <p:sp>
        <p:nvSpPr>
          <p:cNvPr descr="TextBox 351" id="620" name="Google Shape;620;p66"/>
          <p:cNvSpPr txBox="1"/>
          <p:nvPr/>
        </p:nvSpPr>
        <p:spPr>
          <a:xfrm>
            <a:off x="6957683" y="2234641"/>
            <a:ext cx="51282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4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Active Right Leg Drive circuit with gel electrode fallback. Common-mode rejection via AD8422 InAmp.</a:t>
            </a:r>
            <a:endParaRPr sz="1757"/>
          </a:p>
        </p:txBody>
      </p:sp>
      <p:sp>
        <p:nvSpPr>
          <p:cNvPr descr="Rectangle 352" id="621" name="Google Shape;621;p66"/>
          <p:cNvSpPr txBox="1"/>
          <p:nvPr/>
        </p:nvSpPr>
        <p:spPr>
          <a:xfrm>
            <a:off x="48550" y="2849834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53" id="622" name="Google Shape;622;p66"/>
          <p:cNvSpPr txBox="1"/>
          <p:nvPr/>
        </p:nvSpPr>
        <p:spPr>
          <a:xfrm>
            <a:off x="5516390" y="2849834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54" id="623" name="Google Shape;623;p66"/>
          <p:cNvSpPr txBox="1"/>
          <p:nvPr/>
        </p:nvSpPr>
        <p:spPr>
          <a:xfrm>
            <a:off x="6870332" y="2849834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5" id="624" name="Google Shape;624;p66"/>
          <p:cNvSpPr txBox="1"/>
          <p:nvPr/>
        </p:nvSpPr>
        <p:spPr>
          <a:xfrm>
            <a:off x="145980" y="2909589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CNN model too large for MCU flash</a:t>
            </a:r>
            <a:endParaRPr sz="2480"/>
          </a:p>
        </p:txBody>
      </p:sp>
      <p:sp>
        <p:nvSpPr>
          <p:cNvPr descr="Rectangle 356" id="625" name="Google Shape;625;p66"/>
          <p:cNvSpPr txBox="1"/>
          <p:nvPr/>
        </p:nvSpPr>
        <p:spPr>
          <a:xfrm>
            <a:off x="5650777" y="2990435"/>
            <a:ext cx="1016100" cy="282600"/>
          </a:xfrm>
          <a:prstGeom prst="rect">
            <a:avLst/>
          </a:prstGeom>
          <a:solidFill>
            <a:srgbClr val="CC8800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7" id="626" name="Google Shape;626;p66"/>
          <p:cNvSpPr txBox="1"/>
          <p:nvPr/>
        </p:nvSpPr>
        <p:spPr>
          <a:xfrm>
            <a:off x="5699491" y="2990435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553"/>
          </a:p>
        </p:txBody>
      </p:sp>
      <p:sp>
        <p:nvSpPr>
          <p:cNvPr descr="TextBox 358" id="627" name="Google Shape;627;p66"/>
          <p:cNvSpPr txBox="1"/>
          <p:nvPr/>
        </p:nvSpPr>
        <p:spPr>
          <a:xfrm>
            <a:off x="6957683" y="2909589"/>
            <a:ext cx="51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343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nt8 quantization + TFLite Micro keeps model &lt;50KB. Pruning available if needed.</a:t>
            </a:r>
            <a:endParaRPr sz="1860"/>
          </a:p>
        </p:txBody>
      </p:sp>
      <p:sp>
        <p:nvSpPr>
          <p:cNvPr descr="Rectangle 359" id="628" name="Google Shape;628;p66"/>
          <p:cNvSpPr txBox="1"/>
          <p:nvPr/>
        </p:nvSpPr>
        <p:spPr>
          <a:xfrm>
            <a:off x="48550" y="3524782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0" id="629" name="Google Shape;629;p66"/>
          <p:cNvSpPr txBox="1"/>
          <p:nvPr/>
        </p:nvSpPr>
        <p:spPr>
          <a:xfrm>
            <a:off x="5516390" y="3524782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1" id="630" name="Google Shape;630;p66"/>
          <p:cNvSpPr txBox="1"/>
          <p:nvPr/>
        </p:nvSpPr>
        <p:spPr>
          <a:xfrm>
            <a:off x="6870332" y="3524782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2" id="631" name="Google Shape;631;p66"/>
          <p:cNvSpPr txBox="1"/>
          <p:nvPr/>
        </p:nvSpPr>
        <p:spPr>
          <a:xfrm>
            <a:off x="145980" y="3584538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BLE interference in clinical settings</a:t>
            </a:r>
            <a:endParaRPr sz="1860"/>
          </a:p>
        </p:txBody>
      </p:sp>
      <p:sp>
        <p:nvSpPr>
          <p:cNvPr descr="Rectangle 363" id="632" name="Google Shape;632;p66"/>
          <p:cNvSpPr txBox="1"/>
          <p:nvPr/>
        </p:nvSpPr>
        <p:spPr>
          <a:xfrm>
            <a:off x="5650777" y="3667140"/>
            <a:ext cx="1016100" cy="282600"/>
          </a:xfrm>
          <a:prstGeom prst="rect">
            <a:avLst/>
          </a:prstGeom>
          <a:solidFill>
            <a:srgbClr val="CC8800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4" id="633" name="Google Shape;633;p66"/>
          <p:cNvSpPr txBox="1"/>
          <p:nvPr/>
        </p:nvSpPr>
        <p:spPr>
          <a:xfrm>
            <a:off x="5699491" y="3667140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967"/>
          </a:p>
        </p:txBody>
      </p:sp>
      <p:sp>
        <p:nvSpPr>
          <p:cNvPr descr="TextBox 365" id="634" name="Google Shape;634;p66"/>
          <p:cNvSpPr txBox="1"/>
          <p:nvPr/>
        </p:nvSpPr>
        <p:spPr>
          <a:xfrm>
            <a:off x="6957683" y="3584538"/>
            <a:ext cx="51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BLE 5.3 frequency hopping + AES-256 Secure Vault encryption ensures link reliability.</a:t>
            </a:r>
            <a:endParaRPr sz="1860"/>
          </a:p>
        </p:txBody>
      </p:sp>
      <p:sp>
        <p:nvSpPr>
          <p:cNvPr descr="Rectangle 366" id="635" name="Google Shape;635;p66"/>
          <p:cNvSpPr txBox="1"/>
          <p:nvPr/>
        </p:nvSpPr>
        <p:spPr>
          <a:xfrm>
            <a:off x="48550" y="4217370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7" id="636" name="Google Shape;636;p66"/>
          <p:cNvSpPr txBox="1"/>
          <p:nvPr/>
        </p:nvSpPr>
        <p:spPr>
          <a:xfrm>
            <a:off x="5516390" y="4217370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8" id="637" name="Google Shape;637;p66"/>
          <p:cNvSpPr txBox="1"/>
          <p:nvPr/>
        </p:nvSpPr>
        <p:spPr>
          <a:xfrm>
            <a:off x="6870332" y="4217370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9" id="638" name="Google Shape;638;p66"/>
          <p:cNvSpPr txBox="1"/>
          <p:nvPr/>
        </p:nvSpPr>
        <p:spPr>
          <a:xfrm>
            <a:off x="145980" y="4278882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Power budget exceeded during inference</a:t>
            </a:r>
            <a:endParaRPr sz="1860"/>
          </a:p>
        </p:txBody>
      </p:sp>
      <p:sp>
        <p:nvSpPr>
          <p:cNvPr descr="Rectangle 370" id="639" name="Google Shape;639;p66"/>
          <p:cNvSpPr txBox="1"/>
          <p:nvPr/>
        </p:nvSpPr>
        <p:spPr>
          <a:xfrm>
            <a:off x="5650777" y="4359727"/>
            <a:ext cx="1016100" cy="2826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71" id="640" name="Google Shape;640;p66"/>
          <p:cNvSpPr txBox="1"/>
          <p:nvPr/>
        </p:nvSpPr>
        <p:spPr>
          <a:xfrm>
            <a:off x="5699491" y="4359727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553"/>
          </a:p>
        </p:txBody>
      </p:sp>
      <p:sp>
        <p:nvSpPr>
          <p:cNvPr descr="TextBox 372" id="641" name="Google Shape;641;p66"/>
          <p:cNvSpPr txBox="1"/>
          <p:nvPr/>
        </p:nvSpPr>
        <p:spPr>
          <a:xfrm>
            <a:off x="6957683" y="4278882"/>
            <a:ext cx="51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MVP runs only on interrupt. PRS+LDMA keeps CPU in EM2 &gt;99% of the time.</a:t>
            </a:r>
            <a:endParaRPr sz="1860"/>
          </a:p>
        </p:txBody>
      </p:sp>
      <p:sp>
        <p:nvSpPr>
          <p:cNvPr descr="Rectangle 373" id="642" name="Google Shape;642;p66"/>
          <p:cNvSpPr txBox="1"/>
          <p:nvPr/>
        </p:nvSpPr>
        <p:spPr>
          <a:xfrm>
            <a:off x="48550" y="4944472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74" id="643" name="Google Shape;643;p66"/>
          <p:cNvSpPr txBox="1"/>
          <p:nvPr/>
        </p:nvSpPr>
        <p:spPr>
          <a:xfrm>
            <a:off x="5516390" y="4944472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75" id="644" name="Google Shape;644;p66"/>
          <p:cNvSpPr txBox="1"/>
          <p:nvPr/>
        </p:nvSpPr>
        <p:spPr>
          <a:xfrm>
            <a:off x="6870332" y="4944472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76" id="645" name="Google Shape;645;p66"/>
          <p:cNvSpPr txBox="1"/>
          <p:nvPr/>
        </p:nvSpPr>
        <p:spPr>
          <a:xfrm>
            <a:off x="145980" y="4989108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Hardware damage or component delay</a:t>
            </a:r>
            <a:endParaRPr sz="1860"/>
          </a:p>
        </p:txBody>
      </p:sp>
      <p:sp>
        <p:nvSpPr>
          <p:cNvPr descr="Rectangle 377" id="646" name="Google Shape;646;p66"/>
          <p:cNvSpPr txBox="1"/>
          <p:nvPr/>
        </p:nvSpPr>
        <p:spPr>
          <a:xfrm>
            <a:off x="5650777" y="5069953"/>
            <a:ext cx="1016100" cy="2847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5616" dir="5400000" dist="23767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78" id="647" name="Google Shape;647;p66"/>
          <p:cNvSpPr txBox="1"/>
          <p:nvPr/>
        </p:nvSpPr>
        <p:spPr>
          <a:xfrm>
            <a:off x="5699491" y="5085073"/>
            <a:ext cx="918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347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760"/>
          </a:p>
        </p:txBody>
      </p:sp>
      <p:sp>
        <p:nvSpPr>
          <p:cNvPr descr="TextBox 379" id="648" name="Google Shape;648;p66"/>
          <p:cNvSpPr txBox="1"/>
          <p:nvPr/>
        </p:nvSpPr>
        <p:spPr>
          <a:xfrm>
            <a:off x="6957683" y="4989108"/>
            <a:ext cx="51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All components duplicated in BOM. BGM220 Explorer Kit as secondary fallback platform.</a:t>
            </a:r>
            <a:endParaRPr sz="186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45;p10" id="653" name="Google Shape;653;p67"/>
          <p:cNvSpPr txBox="1"/>
          <p:nvPr>
            <p:ph type="title"/>
          </p:nvPr>
        </p:nvSpPr>
        <p:spPr>
          <a:xfrm>
            <a:off x="216936" y="135010"/>
            <a:ext cx="105156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Additional information</a:t>
            </a:r>
            <a:endParaRPr/>
          </a:p>
        </p:txBody>
      </p:sp>
      <p:sp>
        <p:nvSpPr>
          <p:cNvPr descr="Google Shape;346;p10" id="654" name="Google Shape;654;p67"/>
          <p:cNvSpPr txBox="1"/>
          <p:nvPr/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47;p10" id="655" name="Google Shape;655;p67"/>
          <p:cNvSpPr txBox="1"/>
          <p:nvPr/>
        </p:nvSpPr>
        <p:spPr>
          <a:xfrm>
            <a:off x="438150" y="1255043"/>
            <a:ext cx="1133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22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SYSTEM OUTPUTS</a:t>
            </a:r>
            <a:endParaRPr i="1" sz="19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48;p10" id="656" name="Google Shape;65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48" id="657" name="Google Shape;657;p67"/>
          <p:cNvSpPr txBox="1"/>
          <p:nvPr/>
        </p:nvSpPr>
        <p:spPr>
          <a:xfrm>
            <a:off x="392137" y="1882404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9" id="658" name="Google Shape;658;p67"/>
          <p:cNvSpPr txBox="1"/>
          <p:nvPr/>
        </p:nvSpPr>
        <p:spPr>
          <a:xfrm>
            <a:off x="530250" y="1928441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❤️  Heart Rate</a:t>
            </a:r>
            <a:endParaRPr sz="1700"/>
          </a:p>
        </p:txBody>
      </p:sp>
      <p:sp>
        <p:nvSpPr>
          <p:cNvPr descr="TextBox 350" id="659" name="Google Shape;659;p67"/>
          <p:cNvSpPr txBox="1"/>
          <p:nvPr/>
        </p:nvSpPr>
        <p:spPr>
          <a:xfrm>
            <a:off x="530250" y="2203079"/>
            <a:ext cx="342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Real-time BPM measurement from ECG + PPG fusion. Updated every heartbeat.</a:t>
            </a:r>
            <a:endParaRPr/>
          </a:p>
        </p:txBody>
      </p:sp>
      <p:sp>
        <p:nvSpPr>
          <p:cNvPr descr="Rectangle 351" id="660" name="Google Shape;660;p67"/>
          <p:cNvSpPr txBox="1"/>
          <p:nvPr/>
        </p:nvSpPr>
        <p:spPr>
          <a:xfrm>
            <a:off x="4232300" y="1867285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2" id="661" name="Google Shape;661;p67"/>
          <p:cNvSpPr txBox="1"/>
          <p:nvPr/>
        </p:nvSpPr>
        <p:spPr>
          <a:xfrm>
            <a:off x="4370412" y="1928441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🩺  Arrhythmia Detection</a:t>
            </a:r>
            <a:endParaRPr sz="1700"/>
          </a:p>
        </p:txBody>
      </p:sp>
      <p:sp>
        <p:nvSpPr>
          <p:cNvPr descr="TextBox 353" id="662" name="Google Shape;662;p67"/>
          <p:cNvSpPr txBox="1"/>
          <p:nvPr/>
        </p:nvSpPr>
        <p:spPr>
          <a:xfrm>
            <a:off x="4370412" y="2203079"/>
            <a:ext cx="342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AFib and PVC classification via 1D-CNN. Probability score per event.</a:t>
            </a:r>
            <a:endParaRPr/>
          </a:p>
        </p:txBody>
      </p:sp>
      <p:sp>
        <p:nvSpPr>
          <p:cNvPr descr="Rectangle 354" id="663" name="Google Shape;663;p67"/>
          <p:cNvSpPr txBox="1"/>
          <p:nvPr/>
        </p:nvSpPr>
        <p:spPr>
          <a:xfrm>
            <a:off x="8074025" y="1829785"/>
            <a:ext cx="37020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5" id="664" name="Google Shape;664;p67"/>
          <p:cNvSpPr txBox="1"/>
          <p:nvPr/>
        </p:nvSpPr>
        <p:spPr>
          <a:xfrm>
            <a:off x="8210550" y="1890941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🔵  SpO₂ Level</a:t>
            </a:r>
            <a:endParaRPr sz="1700"/>
          </a:p>
        </p:txBody>
      </p:sp>
      <p:sp>
        <p:nvSpPr>
          <p:cNvPr descr="TextBox 356" id="665" name="Google Shape;665;p67"/>
          <p:cNvSpPr txBox="1"/>
          <p:nvPr/>
        </p:nvSpPr>
        <p:spPr>
          <a:xfrm>
            <a:off x="8210550" y="2165579"/>
            <a:ext cx="342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Blood oxygen saturation (%) from MAX30102 optical sensor.</a:t>
            </a:r>
            <a:endParaRPr/>
          </a:p>
        </p:txBody>
      </p:sp>
      <p:sp>
        <p:nvSpPr>
          <p:cNvPr descr="Rectangle 357" id="666" name="Google Shape;666;p67"/>
          <p:cNvSpPr txBox="1"/>
          <p:nvPr/>
        </p:nvSpPr>
        <p:spPr>
          <a:xfrm>
            <a:off x="392137" y="2857960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8" id="667" name="Google Shape;667;p67"/>
          <p:cNvSpPr txBox="1"/>
          <p:nvPr/>
        </p:nvSpPr>
        <p:spPr>
          <a:xfrm>
            <a:off x="530250" y="2888879"/>
            <a:ext cx="342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  HRV Metrics</a:t>
            </a:r>
            <a:endParaRPr sz="1600"/>
          </a:p>
        </p:txBody>
      </p:sp>
      <p:sp>
        <p:nvSpPr>
          <p:cNvPr descr="TextBox 359" id="668" name="Google Shape;668;p67"/>
          <p:cNvSpPr txBox="1"/>
          <p:nvPr/>
        </p:nvSpPr>
        <p:spPr>
          <a:xfrm>
            <a:off x="530250" y="3163516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2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Heart Rate Variability analysis for recovery and stress monitoring.</a:t>
            </a:r>
            <a:endParaRPr sz="1500"/>
          </a:p>
        </p:txBody>
      </p:sp>
      <p:sp>
        <p:nvSpPr>
          <p:cNvPr descr="Rectangle 360" id="669" name="Google Shape;669;p67"/>
          <p:cNvSpPr txBox="1"/>
          <p:nvPr/>
        </p:nvSpPr>
        <p:spPr>
          <a:xfrm>
            <a:off x="4232300" y="2857960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1" id="670" name="Google Shape;670;p67"/>
          <p:cNvSpPr txBox="1"/>
          <p:nvPr/>
        </p:nvSpPr>
        <p:spPr>
          <a:xfrm>
            <a:off x="4370412" y="2888879"/>
            <a:ext cx="342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📡  BLE Event Log</a:t>
            </a:r>
            <a:endParaRPr sz="1600"/>
          </a:p>
        </p:txBody>
      </p:sp>
      <p:sp>
        <p:nvSpPr>
          <p:cNvPr descr="TextBox 362" id="671" name="Google Shape;671;p67"/>
          <p:cNvSpPr txBox="1"/>
          <p:nvPr/>
        </p:nvSpPr>
        <p:spPr>
          <a:xfrm>
            <a:off x="4370412" y="3163516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2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Timestamped anomaly packets transmitted via BLE 5.3 to gateway.</a:t>
            </a:r>
            <a:endParaRPr sz="1500"/>
          </a:p>
        </p:txBody>
      </p:sp>
      <p:sp>
        <p:nvSpPr>
          <p:cNvPr descr="Rectangle 363" id="672" name="Google Shape;672;p67"/>
          <p:cNvSpPr txBox="1"/>
          <p:nvPr/>
        </p:nvSpPr>
        <p:spPr>
          <a:xfrm>
            <a:off x="8074025" y="2820460"/>
            <a:ext cx="37020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4" id="673" name="Google Shape;673;p67"/>
          <p:cNvSpPr txBox="1"/>
          <p:nvPr/>
        </p:nvSpPr>
        <p:spPr>
          <a:xfrm>
            <a:off x="8210550" y="2851379"/>
            <a:ext cx="342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📈  ECG Trace (Clean)</a:t>
            </a:r>
            <a:endParaRPr sz="1600"/>
          </a:p>
        </p:txBody>
      </p:sp>
      <p:sp>
        <p:nvSpPr>
          <p:cNvPr descr="TextBox 365" id="674" name="Google Shape;674;p67"/>
          <p:cNvSpPr txBox="1"/>
          <p:nvPr/>
        </p:nvSpPr>
        <p:spPr>
          <a:xfrm>
            <a:off x="8210550" y="3126016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2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Artifact-free ECG waveform after NLMS filtering, visible on dashboard.</a:t>
            </a:r>
            <a:endParaRPr sz="1500"/>
          </a:p>
        </p:txBody>
      </p:sp>
      <p:sp>
        <p:nvSpPr>
          <p:cNvPr descr="TextBox 366" id="675" name="Google Shape;675;p67"/>
          <p:cNvSpPr txBox="1"/>
          <p:nvPr/>
        </p:nvSpPr>
        <p:spPr>
          <a:xfrm>
            <a:off x="259494" y="3992458"/>
            <a:ext cx="580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600"/>
              <a:buFont typeface="Arial"/>
              <a:buNone/>
            </a:pPr>
            <a:r>
              <a:rPr i="1" lang="en-US" sz="19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FEASIBILITY</a:t>
            </a:r>
            <a:endParaRPr i="1" sz="17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descr="TextBox 368" id="676" name="Google Shape;676;p67"/>
          <p:cNvSpPr txBox="1"/>
          <p:nvPr/>
        </p:nvSpPr>
        <p:spPr>
          <a:xfrm>
            <a:off x="80398" y="4518066"/>
            <a:ext cx="61659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 </a:t>
            </a:r>
            <a:r>
              <a:rPr b="1" lang="en-US" sz="1500"/>
              <a:t>Hardware: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Full utilization of EFR32xG26, BGM220, and RPi 4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 </a:t>
            </a:r>
            <a:r>
              <a:rPr b="1" lang="en-US" sz="1500"/>
              <a:t>Firmware: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Leveraging Silicon Labs native SDKs and TFLite Micro libraries.</a:t>
            </a:r>
            <a:endParaRPr sz="15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Risk Profile: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No custom silicon; eliminates supply chain or fabrication delays.</a:t>
            </a:r>
            <a:endParaRPr sz="15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 </a:t>
            </a:r>
            <a:r>
              <a:rPr b="1" lang="en-US" sz="1500"/>
              <a:t>Viability: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Proven hardware path for a demo-ready prototype by deadline.</a:t>
            </a:r>
            <a:endParaRPr sz="1600">
              <a:solidFill>
                <a:srgbClr val="447BC4"/>
              </a:solidFill>
            </a:endParaRPr>
          </a:p>
        </p:txBody>
      </p:sp>
      <p:sp>
        <p:nvSpPr>
          <p:cNvPr descr="TextBox 369" id="677" name="Google Shape;677;p67"/>
          <p:cNvSpPr txBox="1"/>
          <p:nvPr/>
        </p:nvSpPr>
        <p:spPr>
          <a:xfrm>
            <a:off x="6679825" y="3974375"/>
            <a:ext cx="51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600"/>
              <a:buFont typeface="Arial"/>
              <a:buNone/>
            </a:pPr>
            <a:r>
              <a:rPr i="1" lang="en-US" sz="18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CUSTOMIZABILITY &amp; FUTURE EXPANSION</a:t>
            </a:r>
            <a:endParaRPr i="1" sz="16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descr="TextBox 371" id="678" name="Google Shape;678;p67"/>
          <p:cNvSpPr txBox="1"/>
          <p:nvPr/>
        </p:nvSpPr>
        <p:spPr>
          <a:xfrm>
            <a:off x="6546400" y="4415000"/>
            <a:ext cx="5086800" cy="21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Clinical Versatility: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Extends to respiratory monitoring (SpO2/breath-rate) </a:t>
            </a:r>
            <a:endParaRPr sz="15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Industrial Safety: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Integration into Smart PPE to track worker heat stress and cardiac strain in high-risk environments.</a:t>
            </a:r>
            <a:endParaRPr sz="16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Privacy-Preserving AI: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Implementing models without exposing raw patient biometric data.</a:t>
            </a:r>
            <a:endParaRPr sz="1500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t/>
            </a:r>
            <a:endParaRPr sz="1600">
              <a:solidFill>
                <a:srgbClr val="447BC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54;p11" id="683" name="Google Shape;683;p6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5;p11" id="684" name="Google Shape;684;p6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6;p11" id="685" name="Google Shape;685;p6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7;p11" id="686" name="Google Shape;686;p6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8;p11" id="687" name="Google Shape;687;p6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9;p11" id="688" name="Google Shape;688;p6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60;p11" id="689" name="Google Shape;689;p68"/>
          <p:cNvSpPr txBox="1"/>
          <p:nvPr/>
        </p:nvSpPr>
        <p:spPr>
          <a:xfrm>
            <a:off x="11644312" y="6415087"/>
            <a:ext cx="263525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id="690" name="Google Shape;690;p68"/>
          <p:cNvSpPr txBox="1"/>
          <p:nvPr/>
        </p:nvSpPr>
        <p:spPr>
          <a:xfrm>
            <a:off x="5926137" y="3332162"/>
            <a:ext cx="338137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8"/>
          <p:cNvSpPr txBox="1"/>
          <p:nvPr/>
        </p:nvSpPr>
        <p:spPr>
          <a:xfrm>
            <a:off x="401637" y="844550"/>
            <a:ext cx="127000" cy="1309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1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6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9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0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4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2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5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3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5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4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9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0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11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8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7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1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5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3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8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7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